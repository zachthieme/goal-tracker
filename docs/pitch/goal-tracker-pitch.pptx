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f8a066aa-b228-e0eb-ec13-18b00cc0692e}">
          <p14:sldIdLst>
            <p14:sldId id="256"/>
            <p14:sldId id="257"/>
            <p14:sldId id="258"/>
          </p14:sldIdLst>
        </p14:section>
        <p14:section name="Product tour" id="{80ea9a69-c646-151d-b5b5-bd4a8c3b9a01}">
          <p14:sldIdLst>
            <p14:sldId id="259"/>
            <p14:sldId id="260"/>
            <p14:sldId id="261"/>
            <p14:sldId id="262"/>
            <p14:sldId id="263"/>
          </p14:sldIdLst>
        </p14:section>
        <p14:section name="Ask" id="{84317332-b8b8-1072-5d9c-37bf522cc56c}">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Tracker is one place for the org to state its goals, update them weekly, and produce review-ready reports. The pitch in one line: leaders find trouble without waiting for the review or for someone to tell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failure modes we see with status tracking today. Adjust the wording to your org's own examples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Frontline and mid-level managers own goals and check in. VPs and above read. The manager side has to be cheap or the data goes stale; the leader side has to be easy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data view: what exists and how each goal is doing. One goal type at every level, from org outcome to team project, linked by what contributes to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context view: which goals need attention, why, and who has to act. The count sits in the top bar on every page. In the demo org, 10 of 50 goals are flagged, and 4 of those are Green goals nobody has updated in three to six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any flagged goal to see the owner's latest status and plan, the worst Health among its child goals beside the owner's own call, and how it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an owner lands on Home, sees one Stale goal, opens the check-in, marks it Yellow with a Path to Green, and submits. This is the price of everything on the previous slides, so it has to stay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build a Report over any goals, by rule (Team is Growth) or by hand-picking. The author writes only the introduction and their own notes. It shares from the tool, as Markdown, or printed to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and time-boxed: one org, one review cycle. Fill in which org, the start date, and who the sponsor is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566928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3429000"/>
            <a:ext cx="5120640" cy="146304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382512"/>
            <a:ext cx="2743200" cy="274320"/>
          </a:xfrm>
          <a:prstGeom prst="rect">
            <a:avLst/>
          </a:prstGeom>
          <a:noFill/>
          <a:ln/>
        </p:spPr>
        <p:txBody>
          <a:bodyPr wrap="square" lIns="0" tIns="0" rIns="0" bIns="0" rtlCol="0" anchor="ctr"/>
          <a:lstStyle/>
          <a:p>
            <a:pPr indent="0" marL="0">
              <a:buNone/>
            </a:pPr>
            <a:r>
              <a:rPr lang="en-US" sz="1000" dirty="0">
                <a:solidFill>
                  <a:schemeClr val="accent5"/>
                </a:solidFill>
              </a:rPr>
              <a:t>Goal Tracker</a:t>
            </a:r>
            <a:endParaRPr lang="en-US" sz="10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97280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5669280" cy="1371600"/>
          </a:xfrm>
          <a:prstGeom prst="rect">
            <a:avLst/>
          </a:prstGeom>
          <a:noFill/>
          <a:ln/>
        </p:spPr>
        <p:txBody>
          <a:bodyPr wrap="square" lIns="0" tIns="0" rIns="0" bIns="0" rtlCol="0" anchor="t"/>
          <a:lstStyle/>
          <a:p>
            <a:pPr algn="l" indent="0" marL="0">
              <a:buNone/>
            </a:pPr>
            <a:r>
              <a:rPr lang="en-US" sz="5400" b="1" dirty="0">
                <a:solidFill>
                  <a:schemeClr val="bg1"/>
                </a:solidFill>
              </a:rPr>
              <a:t>Goal Tracker</a:t>
            </a:r>
            <a:endParaRPr lang="en-US" sz="5400" dirty="0"/>
          </a:p>
        </p:txBody>
      </p:sp>
      <p:sp>
        <p:nvSpPr>
          <p:cNvPr id="3" name="Text 0"/>
          <p:cNvSpPr/>
          <p:nvPr>
            <p:ph idx="101" type="body" hasCustomPrompt="1"/>
          </p:nvPr>
        </p:nvSpPr>
        <p:spPr>
          <a:xfrm>
            <a:off x="640080" y="3429000"/>
            <a:ext cx="5120640" cy="1463040"/>
          </a:xfrm>
          <a:prstGeom prst="rect">
            <a:avLst/>
          </a:prstGeom>
          <a:noFill/>
          <a:ln/>
        </p:spPr>
        <p:txBody>
          <a:bodyPr wrap="square" lIns="0" tIns="0" rIns="0" bIns="0" rtlCol="0" anchor="t"/>
          <a:lstStyle/>
          <a:p>
            <a:pPr algn="l" indent="0" marL="0">
              <a:buNone/>
            </a:pPr>
            <a:r>
              <a:rPr lang="en-US" sz="2200" dirty="0">
                <a:solidFill>
                  <a:schemeClr val="accent6"/>
                </a:solidFill>
              </a:rPr>
              <a:t>Find the goals that are in trouble before the review does.</a:t>
            </a:r>
            <a:endParaRPr lang="en-US" sz="2200" dirty="0"/>
          </a:p>
        </p:txBody>
      </p:sp>
      <p:sp>
        <p:nvSpPr>
          <p:cNvPr id="4" name="Green mark"/>
          <p:cNvSpPr/>
          <p:nvPr/>
        </p:nvSpPr>
        <p:spPr>
          <a:xfrm>
            <a:off x="640080" y="1325880"/>
            <a:ext cx="274320" cy="274320"/>
          </a:xfrm>
          <a:prstGeom prst="ellipse">
            <a:avLst/>
          </a:prstGeom>
          <a:solidFill>
            <a:schemeClr val="accent4"/>
          </a:solidFill>
          <a:ln w="12700">
            <a:solidFill>
              <a:schemeClr val="accent4"/>
            </a:solidFill>
            <a:prstDash val="solid"/>
          </a:ln>
        </p:spPr>
      </p:sp>
      <p:sp>
        <p:nvSpPr>
          <p:cNvPr id="5" name="Yellow mark"/>
          <p:cNvSpPr/>
          <p:nvPr/>
        </p:nvSpPr>
        <p:spPr>
          <a:xfrm>
            <a:off x="1051560" y="1325880"/>
            <a:ext cx="274320" cy="274320"/>
          </a:xfrm>
          <a:prstGeom prst="triangle">
            <a:avLst/>
          </a:prstGeom>
          <a:solidFill>
            <a:schemeClr val="accent3"/>
          </a:solidFill>
          <a:ln w="12700">
            <a:solidFill>
              <a:schemeClr val="accent3"/>
            </a:solidFill>
            <a:prstDash val="solid"/>
          </a:ln>
        </p:spPr>
      </p:sp>
      <p:sp>
        <p:nvSpPr>
          <p:cNvPr id="6" name="Red mark"/>
          <p:cNvSpPr/>
          <p:nvPr/>
        </p:nvSpPr>
        <p:spPr>
          <a:xfrm>
            <a:off x="1463040" y="1325880"/>
            <a:ext cx="274320" cy="274320"/>
          </a:xfrm>
          <a:prstGeom prst="rect">
            <a:avLst/>
          </a:prstGeom>
          <a:solidFill>
            <a:schemeClr val="accent2"/>
          </a:solidFill>
          <a:ln w="12700">
            <a:solidFill>
              <a:schemeClr val="accent2"/>
            </a:solidFill>
            <a:prstDash val="solid"/>
          </a:ln>
        </p:spPr>
      </p:sp>
      <p:sp>
        <p:nvSpPr>
          <p:cNvPr id="7" name="Risks page frame"/>
          <p:cNvSpPr/>
          <p:nvPr/>
        </p:nvSpPr>
        <p:spPr>
          <a:xfrm>
            <a:off x="6309360" y="1737360"/>
            <a:ext cx="5349240" cy="3343275"/>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8" name="Risks page" descr="The Risks page listing ten goals that need attention">    </p:cNvPr>
          <p:cNvPicPr>
            <a:picLocks noChangeAspect="1"/>
          </p:cNvPicPr>
          <p:nvPr/>
        </p:nvPicPr>
        <p:blipFill>
          <a:blip r:embed="rId1"/>
          <a:stretch>
            <a:fillRect/>
          </a:stretch>
        </p:blipFill>
        <p:spPr>
          <a:xfrm>
            <a:off x="6309360" y="1737360"/>
            <a:ext cx="5349240" cy="33432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Trouble surfaces at the review, or after it</a:t>
            </a:r>
            <a:endParaRPr lang="en-US" sz="3600" dirty="0"/>
          </a:p>
        </p:txBody>
      </p:sp>
      <p:sp>
        <p:nvSpPr>
          <p:cNvPr id="3" name="Problem 1 card"/>
          <p:cNvSpPr/>
          <p:nvPr/>
        </p:nvSpPr>
        <p:spPr>
          <a:xfrm>
            <a:off x="548640" y="1737360"/>
            <a:ext cx="3456432" cy="3566160"/>
          </a:xfrm>
          <a:prstGeom prst="roundRect">
            <a:avLst>
              <a:gd name="adj" fmla="val 2116"/>
            </a:avLst>
          </a:prstGeom>
          <a:solidFill>
            <a:schemeClr val="bg2"/>
          </a:solidFill>
          <a:ln w="12700">
            <a:solidFill>
              <a:schemeClr val="bg2"/>
            </a:solidFill>
            <a:prstDash val="solid"/>
          </a:ln>
        </p:spPr>
      </p:sp>
      <p:sp>
        <p:nvSpPr>
          <p:cNvPr id="4" name="Problem 1 mark"/>
          <p:cNvSpPr/>
          <p:nvPr/>
        </p:nvSpPr>
        <p:spPr>
          <a:xfrm>
            <a:off x="868680" y="2103120"/>
            <a:ext cx="384048" cy="384048"/>
          </a:xfrm>
          <a:prstGeom prst="rect">
            <a:avLst/>
          </a:prstGeom>
          <a:solidFill>
            <a:schemeClr val="accent5"/>
          </a:solidFill>
          <a:ln w="12700">
            <a:solidFill>
              <a:schemeClr val="accent5"/>
            </a:solidFill>
            <a:prstDash val="solid"/>
          </a:ln>
        </p:spPr>
      </p:sp>
      <p:sp>
        <p:nvSpPr>
          <p:cNvPr id="5" name="Problem 1 heading"/>
          <p:cNvSpPr txBox="1"/>
          <p:nvPr/>
        </p:nvSpPr>
        <p:spPr>
          <a:xfrm>
            <a:off x="868680" y="2788920"/>
            <a:ext cx="2834640" cy="731520"/>
          </a:xfrm>
          <a:prstGeom prst="rect">
            <a:avLst/>
          </a:prstGeom>
          <a:noFill/>
          <a:ln/>
        </p:spPr>
        <p:txBody>
          <a:bodyPr wrap="square" lIns="0" tIns="0" rIns="0" bIns="0" rtlCol="0" anchor="t"/>
          <a:lstStyle/>
          <a:p>
            <a:pPr indent="0" marL="0">
              <a:buNone/>
            </a:pPr>
            <a:r>
              <a:rPr lang="en-US" sz="2200" b="1" dirty="0">
                <a:solidFill>
                  <a:schemeClr val="tx1"/>
                </a:solidFill>
              </a:rPr>
              <a:t>Silence looks like Green</a:t>
            </a:r>
            <a:endParaRPr lang="en-US" sz="2200" dirty="0"/>
          </a:p>
        </p:txBody>
      </p:sp>
      <p:sp>
        <p:nvSpPr>
          <p:cNvPr id="6" name="Problem 1 text"/>
          <p:cNvSpPr txBox="1"/>
          <p:nvPr/>
        </p:nvSpPr>
        <p:spPr>
          <a:xfrm>
            <a:off x="868680" y="3611880"/>
            <a:ext cx="2834640" cy="1463040"/>
          </a:xfrm>
          <a:prstGeom prst="rect">
            <a:avLst/>
          </a:prstGeom>
          <a:noFill/>
          <a:ln/>
        </p:spPr>
        <p:txBody>
          <a:bodyPr wrap="square" lIns="0" tIns="0" rIns="0" bIns="0" rtlCol="0" anchor="t"/>
          <a:lstStyle/>
          <a:p>
            <a:pPr indent="0" marL="0">
              <a:buNone/>
            </a:pPr>
            <a:r>
              <a:rPr lang="en-US" sz="1500" dirty="0">
                <a:solidFill>
                  <a:schemeClr val="accent5"/>
                </a:solidFill>
              </a:rPr>
              <a:t>A goal nobody has updated in six weeks still shows its last good status. Nothing flags it.</a:t>
            </a:r>
            <a:endParaRPr lang="en-US" sz="1500" dirty="0"/>
          </a:p>
        </p:txBody>
      </p:sp>
      <p:sp>
        <p:nvSpPr>
          <p:cNvPr id="7" name="Problem 2 card"/>
          <p:cNvSpPr/>
          <p:nvPr/>
        </p:nvSpPr>
        <p:spPr>
          <a:xfrm>
            <a:off x="4370832" y="1737360"/>
            <a:ext cx="3456432" cy="3566160"/>
          </a:xfrm>
          <a:prstGeom prst="roundRect">
            <a:avLst>
              <a:gd name="adj" fmla="val 2116"/>
            </a:avLst>
          </a:prstGeom>
          <a:solidFill>
            <a:schemeClr val="bg2"/>
          </a:solidFill>
          <a:ln w="12700">
            <a:solidFill>
              <a:schemeClr val="bg2"/>
            </a:solidFill>
            <a:prstDash val="solid"/>
          </a:ln>
        </p:spPr>
      </p:sp>
      <p:sp>
        <p:nvSpPr>
          <p:cNvPr id="8" name="Problem 2 mark"/>
          <p:cNvSpPr/>
          <p:nvPr/>
        </p:nvSpPr>
        <p:spPr>
          <a:xfrm>
            <a:off x="4690872" y="2103120"/>
            <a:ext cx="384048" cy="384048"/>
          </a:xfrm>
          <a:prstGeom prst="triangle">
            <a:avLst/>
          </a:prstGeom>
          <a:solidFill>
            <a:schemeClr val="accent3"/>
          </a:solidFill>
          <a:ln w="12700">
            <a:solidFill>
              <a:schemeClr val="accent3"/>
            </a:solidFill>
            <a:prstDash val="solid"/>
          </a:ln>
        </p:spPr>
      </p:sp>
      <p:sp>
        <p:nvSpPr>
          <p:cNvPr id="9" name="Problem 2 heading"/>
          <p:cNvSpPr txBox="1"/>
          <p:nvPr/>
        </p:nvSpPr>
        <p:spPr>
          <a:xfrm>
            <a:off x="4690872" y="2788920"/>
            <a:ext cx="2834640" cy="731520"/>
          </a:xfrm>
          <a:prstGeom prst="rect">
            <a:avLst/>
          </a:prstGeom>
          <a:noFill/>
          <a:ln/>
        </p:spPr>
        <p:txBody>
          <a:bodyPr wrap="square" lIns="0" tIns="0" rIns="0" bIns="0" rtlCol="0" anchor="t"/>
          <a:lstStyle/>
          <a:p>
            <a:pPr indent="0" marL="0">
              <a:buNone/>
            </a:pPr>
            <a:r>
              <a:rPr lang="en-US" sz="2200" b="1" dirty="0">
                <a:solidFill>
                  <a:schemeClr val="tx1"/>
                </a:solidFill>
              </a:rPr>
              <a:t>Reviews run on retyped status</a:t>
            </a:r>
            <a:endParaRPr lang="en-US" sz="2200" dirty="0"/>
          </a:p>
        </p:txBody>
      </p:sp>
      <p:sp>
        <p:nvSpPr>
          <p:cNvPr id="10" name="Problem 2 text"/>
          <p:cNvSpPr txBox="1"/>
          <p:nvPr/>
        </p:nvSpPr>
        <p:spPr>
          <a:xfrm>
            <a:off x="4690872" y="3611880"/>
            <a:ext cx="2834640" cy="1463040"/>
          </a:xfrm>
          <a:prstGeom prst="rect">
            <a:avLst/>
          </a:prstGeom>
          <a:noFill/>
          <a:ln/>
        </p:spPr>
        <p:txBody>
          <a:bodyPr wrap="square" lIns="0" tIns="0" rIns="0" bIns="0" rtlCol="0" anchor="t"/>
          <a:lstStyle/>
          <a:p>
            <a:pPr indent="0" marL="0">
              <a:buNone/>
            </a:pPr>
            <a:r>
              <a:rPr lang="en-US" sz="1500" dirty="0">
                <a:solidFill>
                  <a:schemeClr val="accent5"/>
                </a:solidFill>
              </a:rPr>
              <a:t>Each review is assembled by hand from docs, slides and chat. The work goes into collecting, not reading.</a:t>
            </a:r>
            <a:endParaRPr lang="en-US" sz="1500" dirty="0"/>
          </a:p>
        </p:txBody>
      </p:sp>
      <p:sp>
        <p:nvSpPr>
          <p:cNvPr id="11" name="Problem 3 card"/>
          <p:cNvSpPr/>
          <p:nvPr/>
        </p:nvSpPr>
        <p:spPr>
          <a:xfrm>
            <a:off x="8193024" y="1737360"/>
            <a:ext cx="3456432" cy="3566160"/>
          </a:xfrm>
          <a:prstGeom prst="roundRect">
            <a:avLst>
              <a:gd name="adj" fmla="val 2116"/>
            </a:avLst>
          </a:prstGeom>
          <a:solidFill>
            <a:schemeClr val="bg2"/>
          </a:solidFill>
          <a:ln w="12700">
            <a:solidFill>
              <a:schemeClr val="bg2"/>
            </a:solidFill>
            <a:prstDash val="solid"/>
          </a:ln>
        </p:spPr>
      </p:sp>
      <p:sp>
        <p:nvSpPr>
          <p:cNvPr id="12" name="Problem 3 mark"/>
          <p:cNvSpPr/>
          <p:nvPr/>
        </p:nvSpPr>
        <p:spPr>
          <a:xfrm>
            <a:off x="8513064" y="2103120"/>
            <a:ext cx="384048" cy="384048"/>
          </a:xfrm>
          <a:prstGeom prst="rect">
            <a:avLst/>
          </a:prstGeom>
          <a:solidFill>
            <a:schemeClr val="accent2"/>
          </a:solidFill>
          <a:ln w="12700">
            <a:solidFill>
              <a:schemeClr val="accent2"/>
            </a:solidFill>
            <a:prstDash val="solid"/>
          </a:ln>
        </p:spPr>
      </p:sp>
      <p:sp>
        <p:nvSpPr>
          <p:cNvPr id="13" name="Problem 3 heading"/>
          <p:cNvSpPr txBox="1"/>
          <p:nvPr/>
        </p:nvSpPr>
        <p:spPr>
          <a:xfrm>
            <a:off x="8513064" y="2788920"/>
            <a:ext cx="2834640" cy="731520"/>
          </a:xfrm>
          <a:prstGeom prst="rect">
            <a:avLst/>
          </a:prstGeom>
          <a:noFill/>
          <a:ln/>
        </p:spPr>
        <p:txBody>
          <a:bodyPr wrap="square" lIns="0" tIns="0" rIns="0" bIns="0" rtlCol="0" anchor="t"/>
          <a:lstStyle/>
          <a:p>
            <a:pPr indent="0" marL="0">
              <a:buNone/>
            </a:pPr>
            <a:r>
              <a:rPr lang="en-US" sz="2200" b="1" dirty="0">
                <a:solidFill>
                  <a:schemeClr val="tx1"/>
                </a:solidFill>
              </a:rPr>
              <a:t>Bad news arrives without a plan</a:t>
            </a:r>
            <a:endParaRPr lang="en-US" sz="2200" dirty="0"/>
          </a:p>
        </p:txBody>
      </p:sp>
      <p:sp>
        <p:nvSpPr>
          <p:cNvPr id="14" name="Problem 3 text"/>
          <p:cNvSpPr txBox="1"/>
          <p:nvPr/>
        </p:nvSpPr>
        <p:spPr>
          <a:xfrm>
            <a:off x="8513064" y="3611880"/>
            <a:ext cx="2834640" cy="1463040"/>
          </a:xfrm>
          <a:prstGeom prst="rect">
            <a:avLst/>
          </a:prstGeom>
          <a:noFill/>
          <a:ln/>
        </p:spPr>
        <p:txBody>
          <a:bodyPr wrap="square" lIns="0" tIns="0" rIns="0" bIns="0" rtlCol="0" anchor="t"/>
          <a:lstStyle/>
          <a:p>
            <a:pPr indent="0" marL="0">
              <a:buNone/>
            </a:pPr>
            <a:r>
              <a:rPr lang="en-US" sz="1500" dirty="0">
                <a:solidFill>
                  <a:schemeClr val="accent5"/>
                </a:solidFill>
              </a:rPr>
              <a:t>A Red status says something is wrong. It rarely says what the owner will do, or by when.</a:t>
            </a:r>
            <a:endParaRPr lang="en-US" sz="1500" dirty="0"/>
          </a:p>
        </p:txBody>
      </p:sp>
      <p:sp>
        <p:nvSpPr>
          <p:cNvPr id="15" name="Takeaway"/>
          <p:cNvSpPr txBox="1"/>
          <p:nvPr/>
        </p:nvSpPr>
        <p:spPr>
          <a:xfrm>
            <a:off x="548640" y="553212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Goal Tracker is built around one question: does this make trouble easier to find, or harder to hide?</a:t>
            </a:r>
            <a:endParaRPr lang="en-US" sz="1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One mechanism, from weekly update to review</a:t>
            </a:r>
            <a:endParaRPr lang="en-US" sz="3600" dirty="0"/>
          </a:p>
        </p:txBody>
      </p:sp>
      <p:sp>
        <p:nvSpPr>
          <p:cNvPr id="3" name="Step 1 circle"/>
          <p:cNvSpPr/>
          <p:nvPr/>
        </p:nvSpPr>
        <p:spPr>
          <a:xfrm>
            <a:off x="548640" y="1783080"/>
            <a:ext cx="731520" cy="731520"/>
          </a:xfrm>
          <a:prstGeom prst="ellipse">
            <a:avLst/>
          </a:prstGeom>
          <a:solidFill>
            <a:schemeClr val="accent1"/>
          </a:solidFill>
          <a:ln w="12700">
            <a:solidFill>
              <a:schemeClr val="accent1"/>
            </a:solidFill>
            <a:prstDash val="solid"/>
          </a:ln>
        </p:spPr>
      </p:sp>
      <p:sp>
        <p:nvSpPr>
          <p:cNvPr id="4" name="Step 1 number"/>
          <p:cNvSpPr txBox="1"/>
          <p:nvPr/>
        </p:nvSpPr>
        <p:spPr>
          <a:xfrm>
            <a:off x="548640" y="178308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5" name="Arrow 1"/>
          <p:cNvSpPr/>
          <p:nvPr/>
        </p:nvSpPr>
        <p:spPr>
          <a:xfrm>
            <a:off x="1463040" y="2148840"/>
            <a:ext cx="2724912" cy="0"/>
          </a:xfrm>
          <a:prstGeom prst="line">
            <a:avLst/>
          </a:prstGeom>
          <a:noFill/>
          <a:ln w="25400">
            <a:solidFill>
              <a:schemeClr val="accent6"/>
            </a:solidFill>
            <a:prstDash val="solid"/>
            <a:tailEnd type="triangle"/>
          </a:ln>
        </p:spPr>
      </p:sp>
      <p:sp>
        <p:nvSpPr>
          <p:cNvPr id="6" name="Step 1 heading"/>
          <p:cNvSpPr txBox="1"/>
          <p:nvPr/>
        </p:nvSpPr>
        <p:spPr>
          <a:xfrm>
            <a:off x="548640" y="2743200"/>
            <a:ext cx="3291840" cy="731520"/>
          </a:xfrm>
          <a:prstGeom prst="rect">
            <a:avLst/>
          </a:prstGeom>
          <a:noFill/>
          <a:ln/>
        </p:spPr>
        <p:txBody>
          <a:bodyPr wrap="square" lIns="0" tIns="0" rIns="0" bIns="0" rtlCol="0" anchor="t"/>
          <a:lstStyle/>
          <a:p>
            <a:pPr indent="0" marL="0">
              <a:buNone/>
            </a:pPr>
            <a:r>
              <a:rPr lang="en-US" sz="2200" b="1" dirty="0">
                <a:solidFill>
                  <a:schemeClr val="tx1"/>
                </a:solidFill>
              </a:rPr>
              <a:t>Owners check in weekly</a:t>
            </a:r>
            <a:endParaRPr lang="en-US" sz="2200" dirty="0"/>
          </a:p>
        </p:txBody>
      </p:sp>
      <p:sp>
        <p:nvSpPr>
          <p:cNvPr id="7" name="Step 1 text"/>
          <p:cNvSpPr txBox="1"/>
          <p:nvPr/>
        </p:nvSpPr>
        <p:spPr>
          <a:xfrm>
            <a:off x="548640" y="3520440"/>
            <a:ext cx="3291840" cy="1188720"/>
          </a:xfrm>
          <a:prstGeom prst="rect">
            <a:avLst/>
          </a:prstGeom>
          <a:noFill/>
          <a:ln/>
        </p:spPr>
        <p:txBody>
          <a:bodyPr wrap="square" lIns="0" tIns="0" rIns="0" bIns="0" rtlCol="0" anchor="t"/>
          <a:lstStyle/>
          <a:p>
            <a:pPr indent="0" marL="0">
              <a:buNone/>
            </a:pPr>
            <a:r>
              <a:rPr lang="en-US" sz="1500" dirty="0">
                <a:solidFill>
                  <a:schemeClr val="accent5"/>
                </a:solidFill>
              </a:rPr>
              <a:t>Health, a short status, and any date changes. A routine week is one click: No change.</a:t>
            </a:r>
            <a:endParaRPr lang="en-US" sz="1500" dirty="0"/>
          </a:p>
        </p:txBody>
      </p:sp>
      <p:sp>
        <p:nvSpPr>
          <p:cNvPr id="8" name="Step 2 circle"/>
          <p:cNvSpPr/>
          <p:nvPr/>
        </p:nvSpPr>
        <p:spPr>
          <a:xfrm>
            <a:off x="4370832" y="1783080"/>
            <a:ext cx="731520" cy="731520"/>
          </a:xfrm>
          <a:prstGeom prst="ellipse">
            <a:avLst/>
          </a:prstGeom>
          <a:solidFill>
            <a:schemeClr val="accent1"/>
          </a:solidFill>
          <a:ln w="12700">
            <a:solidFill>
              <a:schemeClr val="accent1"/>
            </a:solidFill>
            <a:prstDash val="solid"/>
          </a:ln>
        </p:spPr>
      </p:sp>
      <p:sp>
        <p:nvSpPr>
          <p:cNvPr id="9" name="Step 2 number"/>
          <p:cNvSpPr txBox="1"/>
          <p:nvPr/>
        </p:nvSpPr>
        <p:spPr>
          <a:xfrm>
            <a:off x="4370832" y="178308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0" name="Arrow 2"/>
          <p:cNvSpPr/>
          <p:nvPr/>
        </p:nvSpPr>
        <p:spPr>
          <a:xfrm>
            <a:off x="5285232" y="2148840"/>
            <a:ext cx="2724912" cy="0"/>
          </a:xfrm>
          <a:prstGeom prst="line">
            <a:avLst/>
          </a:prstGeom>
          <a:noFill/>
          <a:ln w="25400">
            <a:solidFill>
              <a:schemeClr val="accent6"/>
            </a:solidFill>
            <a:prstDash val="solid"/>
            <a:tailEnd type="triangle"/>
          </a:ln>
        </p:spPr>
      </p:sp>
      <p:sp>
        <p:nvSpPr>
          <p:cNvPr id="11" name="Step 2 heading"/>
          <p:cNvSpPr txBox="1"/>
          <p:nvPr/>
        </p:nvSpPr>
        <p:spPr>
          <a:xfrm>
            <a:off x="4370832" y="2743200"/>
            <a:ext cx="3291840" cy="731520"/>
          </a:xfrm>
          <a:prstGeom prst="rect">
            <a:avLst/>
          </a:prstGeom>
          <a:noFill/>
          <a:ln/>
        </p:spPr>
        <p:txBody>
          <a:bodyPr wrap="square" lIns="0" tIns="0" rIns="0" bIns="0" rtlCol="0" anchor="t"/>
          <a:lstStyle/>
          <a:p>
            <a:pPr indent="0" marL="0">
              <a:buNone/>
            </a:pPr>
            <a:r>
              <a:rPr lang="en-US" sz="2200" b="1" dirty="0">
                <a:solidFill>
                  <a:schemeClr val="tx1"/>
                </a:solidFill>
              </a:rPr>
              <a:t>Risks flags what needs attention</a:t>
            </a:r>
            <a:endParaRPr lang="en-US" sz="2200" dirty="0"/>
          </a:p>
        </p:txBody>
      </p:sp>
      <p:sp>
        <p:nvSpPr>
          <p:cNvPr id="12" name="Step 2 text"/>
          <p:cNvSpPr txBox="1"/>
          <p:nvPr/>
        </p:nvSpPr>
        <p:spPr>
          <a:xfrm>
            <a:off x="4370832" y="3520440"/>
            <a:ext cx="3291840" cy="1188720"/>
          </a:xfrm>
          <a:prstGeom prst="rect">
            <a:avLst/>
          </a:prstGeom>
          <a:noFill/>
          <a:ln/>
        </p:spPr>
        <p:txBody>
          <a:bodyPr wrap="square" lIns="0" tIns="0" rIns="0" bIns="0" rtlCol="0" anchor="t"/>
          <a:lstStyle/>
          <a:p>
            <a:pPr indent="0" marL="0">
              <a:buNone/>
            </a:pPr>
            <a:r>
              <a:rPr lang="en-US" sz="1500" dirty="0">
                <a:solidFill>
                  <a:schemeClr val="accent5"/>
                </a:solidFill>
              </a:rPr>
              <a:t>Red, Stale, unaligned and conflicting goals, grouped by who has to act, each with one fix.</a:t>
            </a:r>
            <a:endParaRPr lang="en-US" sz="1500" dirty="0"/>
          </a:p>
        </p:txBody>
      </p:sp>
      <p:sp>
        <p:nvSpPr>
          <p:cNvPr id="13" name="Step 3 circle"/>
          <p:cNvSpPr/>
          <p:nvPr/>
        </p:nvSpPr>
        <p:spPr>
          <a:xfrm>
            <a:off x="8193024" y="1783080"/>
            <a:ext cx="731520" cy="731520"/>
          </a:xfrm>
          <a:prstGeom prst="ellipse">
            <a:avLst/>
          </a:prstGeom>
          <a:solidFill>
            <a:schemeClr val="accent1"/>
          </a:solidFill>
          <a:ln w="12700">
            <a:solidFill>
              <a:schemeClr val="accent1"/>
            </a:solidFill>
            <a:prstDash val="solid"/>
          </a:ln>
        </p:spPr>
      </p:sp>
      <p:sp>
        <p:nvSpPr>
          <p:cNvPr id="14" name="Step 3 number"/>
          <p:cNvSpPr txBox="1"/>
          <p:nvPr/>
        </p:nvSpPr>
        <p:spPr>
          <a:xfrm>
            <a:off x="8193024" y="178308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5" name="Step 3 heading"/>
          <p:cNvSpPr txBox="1"/>
          <p:nvPr/>
        </p:nvSpPr>
        <p:spPr>
          <a:xfrm>
            <a:off x="8193024" y="2743200"/>
            <a:ext cx="3291840" cy="731520"/>
          </a:xfrm>
          <a:prstGeom prst="rect">
            <a:avLst/>
          </a:prstGeom>
          <a:noFill/>
          <a:ln/>
        </p:spPr>
        <p:txBody>
          <a:bodyPr wrap="square" lIns="0" tIns="0" rIns="0" bIns="0" rtlCol="0" anchor="t"/>
          <a:lstStyle/>
          <a:p>
            <a:pPr indent="0" marL="0">
              <a:buNone/>
            </a:pPr>
            <a:r>
              <a:rPr lang="en-US" sz="2200" b="1" dirty="0">
                <a:solidFill>
                  <a:schemeClr val="tx1"/>
                </a:solidFill>
              </a:rPr>
              <a:t>The Report writes itself</a:t>
            </a:r>
            <a:endParaRPr lang="en-US" sz="2200" dirty="0"/>
          </a:p>
        </p:txBody>
      </p:sp>
      <p:sp>
        <p:nvSpPr>
          <p:cNvPr id="16" name="Step 3 text"/>
          <p:cNvSpPr txBox="1"/>
          <p:nvPr/>
        </p:nvSpPr>
        <p:spPr>
          <a:xfrm>
            <a:off x="8193024" y="3520440"/>
            <a:ext cx="3291840" cy="1188720"/>
          </a:xfrm>
          <a:prstGeom prst="rect">
            <a:avLst/>
          </a:prstGeom>
          <a:noFill/>
          <a:ln/>
        </p:spPr>
        <p:txBody>
          <a:bodyPr wrap="square" lIns="0" tIns="0" rIns="0" bIns="0" rtlCol="0" anchor="t"/>
          <a:lstStyle/>
          <a:p>
            <a:pPr indent="0" marL="0">
              <a:buNone/>
            </a:pPr>
            <a:r>
              <a:rPr lang="en-US" sz="1500" dirty="0">
                <a:solidFill>
                  <a:schemeClr val="accent5"/>
                </a:solidFill>
              </a:rPr>
              <a:t>Exceptions in full, on-track goals in one line each, with what changed since the last review.</a:t>
            </a:r>
            <a:endParaRPr lang="en-US" sz="1500" dirty="0"/>
          </a:p>
        </p:txBody>
      </p:sp>
      <p:sp>
        <p:nvSpPr>
          <p:cNvPr id="17" name="Positioning band"/>
          <p:cNvSpPr/>
          <p:nvPr/>
        </p:nvSpPr>
        <p:spPr>
          <a:xfrm>
            <a:off x="548640" y="4983480"/>
            <a:ext cx="11091672" cy="1005840"/>
          </a:xfrm>
          <a:prstGeom prst="roundRect">
            <a:avLst>
              <a:gd name="adj" fmla="val 7273"/>
            </a:avLst>
          </a:prstGeom>
          <a:solidFill>
            <a:schemeClr val="bg2"/>
          </a:solidFill>
          <a:ln w="12700">
            <a:solidFill>
              <a:schemeClr val="bg2"/>
            </a:solidFill>
            <a:prstDash val="solid"/>
          </a:ln>
        </p:spPr>
      </p:sp>
      <p:sp>
        <p:nvSpPr>
          <p:cNvPr id="18" name="Positioning text"/>
          <p:cNvSpPr txBox="1"/>
          <p:nvPr/>
        </p:nvSpPr>
        <p:spPr>
          <a:xfrm>
            <a:off x="822960" y="4983480"/>
            <a:ext cx="10515600" cy="1005840"/>
          </a:xfrm>
          <a:prstGeom prst="rect">
            <a:avLst/>
          </a:prstGeom>
          <a:noFill/>
          <a:ln/>
        </p:spPr>
        <p:txBody>
          <a:bodyPr wrap="square" lIns="0" tIns="0" rIns="0" bIns="0" rtlCol="0" anchor="ctr"/>
          <a:lstStyle/>
          <a:p>
            <a:pPr indent="0" marL="0">
              <a:buNone/>
            </a:pPr>
            <a:r>
              <a:rPr lang="en-US" sz="1700" b="1" dirty="0">
                <a:solidFill>
                  <a:schemeClr val="tx2"/>
                </a:solidFill>
              </a:rPr>
              <a:t>The rigor of an MBR, the ease of a 5-15, the org-wide view of OKRs.</a:t>
            </a:r>
            <a:pPr indent="0" marL="0">
              <a:buNone/>
            </a:pPr>
            <a:r>
              <a:rPr lang="en-US" sz="1700" dirty="0">
                <a:solidFill>
                  <a:schemeClr val="accent5"/>
                </a:solidFill>
              </a:rPr>
              <a:t>  Managers supply the data cheaply; leaders read it easily.</a:t>
            </a:r>
            <a:endParaRPr lang="en-US" sz="17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goal in one list, problems first</a:t>
            </a:r>
            <a:endParaRPr lang="en-US" sz="3600" dirty="0"/>
          </a:p>
        </p:txBody>
      </p:sp>
      <p:sp>
        <p:nvSpPr>
          <p:cNvPr id="3" name="Goals page frame"/>
          <p:cNvSpPr/>
          <p:nvPr/>
        </p:nvSpPr>
        <p:spPr>
          <a:xfrm>
            <a:off x="548640"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Goals page" descr="The Goals list sorted with Red goals at the top">    </p:cNvPr>
          <p:cNvPicPr>
            <a:picLocks noChangeAspect="1"/>
          </p:cNvPicPr>
          <p:nvPr/>
        </p:nvPicPr>
        <p:blipFill>
          <a:blip r:embed="rId1"/>
          <a:stretch>
            <a:fillRect/>
          </a:stretch>
        </p:blipFill>
        <p:spPr>
          <a:xfrm>
            <a:off x="548640" y="1463040"/>
            <a:ext cx="7223760" cy="4514850"/>
          </a:xfrm>
          <a:prstGeom prst="rect">
            <a:avLst/>
          </a:prstGeom>
        </p:spPr>
      </p:pic>
      <p:sp>
        <p:nvSpPr>
          <p:cNvPr id="5" name="Caption"/>
          <p:cNvSpPr txBox="1"/>
          <p:nvPr/>
        </p:nvSpPr>
        <p:spPr>
          <a:xfrm>
            <a:off x="548640"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8229600" y="1664208"/>
            <a:ext cx="182880" cy="182880"/>
          </a:xfrm>
          <a:prstGeom prst="rect">
            <a:avLst/>
          </a:prstGeom>
          <a:solidFill>
            <a:schemeClr val="accent2"/>
          </a:solidFill>
          <a:ln w="12700">
            <a:solidFill>
              <a:schemeClr val="accent2"/>
            </a:solidFill>
            <a:prstDash val="solid"/>
          </a:ln>
        </p:spPr>
      </p:sp>
      <p:sp>
        <p:nvSpPr>
          <p:cNvPr id="7" name="Point 1 heading"/>
          <p:cNvSpPr txBox="1"/>
          <p:nvPr/>
        </p:nvSpPr>
        <p:spPr>
          <a:xfrm>
            <a:off x="8577072" y="1600200"/>
            <a:ext cx="3063240" cy="329184"/>
          </a:xfrm>
          <a:prstGeom prst="rect">
            <a:avLst/>
          </a:prstGeom>
          <a:noFill/>
          <a:ln/>
        </p:spPr>
        <p:txBody>
          <a:bodyPr wrap="square" lIns="0" tIns="0" rIns="0" bIns="0" rtlCol="0" anchor="t"/>
          <a:lstStyle/>
          <a:p>
            <a:pPr indent="0" marL="0">
              <a:buNone/>
            </a:pPr>
            <a:r>
              <a:rPr lang="en-US" sz="1800" b="1" dirty="0">
                <a:solidFill>
                  <a:schemeClr val="tx1"/>
                </a:solidFill>
              </a:rPr>
              <a:t>Sorted by Health</a:t>
            </a:r>
            <a:endParaRPr lang="en-US" sz="1800" dirty="0"/>
          </a:p>
        </p:txBody>
      </p:sp>
      <p:sp>
        <p:nvSpPr>
          <p:cNvPr id="8" name="Point 1 text"/>
          <p:cNvSpPr txBox="1"/>
          <p:nvPr/>
        </p:nvSpPr>
        <p:spPr>
          <a:xfrm>
            <a:off x="8577072" y="196596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Red first, then Stale, then Yellow. The shape of the org reads in one screen.</a:t>
            </a:r>
            <a:endParaRPr lang="en-US" sz="1400" dirty="0"/>
          </a:p>
        </p:txBody>
      </p:sp>
      <p:sp>
        <p:nvSpPr>
          <p:cNvPr id="9" name="Point 2 mark"/>
          <p:cNvSpPr/>
          <p:nvPr/>
        </p:nvSpPr>
        <p:spPr>
          <a:xfrm>
            <a:off x="822960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577072" y="3017520"/>
            <a:ext cx="3063240" cy="329184"/>
          </a:xfrm>
          <a:prstGeom prst="rect">
            <a:avLst/>
          </a:prstGeom>
          <a:noFill/>
          <a:ln/>
        </p:spPr>
        <p:txBody>
          <a:bodyPr wrap="square" lIns="0" tIns="0" rIns="0" bIns="0" rtlCol="0" anchor="t"/>
          <a:lstStyle/>
          <a:p>
            <a:pPr indent="0" marL="0">
              <a:buNone/>
            </a:pPr>
            <a:r>
              <a:rPr lang="en-US" sz="1800" b="1" dirty="0">
                <a:solidFill>
                  <a:schemeClr val="tx1"/>
                </a:solidFill>
              </a:rPr>
              <a:t>Slips stay visible</a:t>
            </a:r>
            <a:endParaRPr lang="en-US" sz="1800" dirty="0"/>
          </a:p>
        </p:txBody>
      </p:sp>
      <p:sp>
        <p:nvSpPr>
          <p:cNvPr id="11" name="Point 2 text"/>
          <p:cNvSpPr txBox="1"/>
          <p:nvPr/>
        </p:nvSpPr>
        <p:spPr>
          <a:xfrm>
            <a:off x="8577072" y="338328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A moved date shows the old date struck through beside the new one.</a:t>
            </a:r>
            <a:endParaRPr lang="en-US" sz="1400" dirty="0"/>
          </a:p>
        </p:txBody>
      </p:sp>
      <p:sp>
        <p:nvSpPr>
          <p:cNvPr id="12" name="Point 3 mark"/>
          <p:cNvSpPr/>
          <p:nvPr/>
        </p:nvSpPr>
        <p:spPr>
          <a:xfrm>
            <a:off x="822960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577072" y="4434840"/>
            <a:ext cx="3063240" cy="329184"/>
          </a:xfrm>
          <a:prstGeom prst="rect">
            <a:avLst/>
          </a:prstGeom>
          <a:noFill/>
          <a:ln/>
        </p:spPr>
        <p:txBody>
          <a:bodyPr wrap="square" lIns="0" tIns="0" rIns="0" bIns="0" rtlCol="0" anchor="t"/>
          <a:lstStyle/>
          <a:p>
            <a:pPr indent="0" marL="0">
              <a:buNone/>
            </a:pPr>
            <a:r>
              <a:rPr lang="en-US" sz="1800" b="1" dirty="0">
                <a:solidFill>
                  <a:schemeClr val="tx1"/>
                </a:solidFill>
              </a:rPr>
              <a:t>Slice it your way</a:t>
            </a:r>
            <a:endParaRPr lang="en-US" sz="1800" dirty="0"/>
          </a:p>
        </p:txBody>
      </p:sp>
      <p:sp>
        <p:nvSpPr>
          <p:cNvPr id="14" name="Point 3 text"/>
          <p:cNvSpPr txBox="1"/>
          <p:nvPr/>
        </p:nvSpPr>
        <p:spPr>
          <a:xfrm>
            <a:off x="8577072" y="480060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Filter and group by team, pillar, quarter, or any Dimension an Admin defines.</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silent goal is as loud as a Red one</a:t>
            </a:r>
            <a:endParaRPr lang="en-US" sz="3600" dirty="0"/>
          </a:p>
        </p:txBody>
      </p:sp>
      <p:sp>
        <p:nvSpPr>
          <p:cNvPr id="3" name="Risks page frame"/>
          <p:cNvSpPr/>
          <p:nvPr/>
        </p:nvSpPr>
        <p:spPr>
          <a:xfrm>
            <a:off x="4416552"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Risks page" descr="The Risks page with ten flagged goals in three groups">    </p:cNvPr>
          <p:cNvPicPr>
            <a:picLocks noChangeAspect="1"/>
          </p:cNvPicPr>
          <p:nvPr/>
        </p:nvPicPr>
        <p:blipFill>
          <a:blip r:embed="rId1"/>
          <a:stretch>
            <a:fillRect/>
          </a:stretch>
        </p:blipFill>
        <p:spPr>
          <a:xfrm>
            <a:off x="4416552" y="1463040"/>
            <a:ext cx="7223760" cy="4514850"/>
          </a:xfrm>
          <a:prstGeom prst="rect">
            <a:avLst/>
          </a:prstGeom>
        </p:spPr>
      </p:pic>
      <p:sp>
        <p:nvSpPr>
          <p:cNvPr id="5" name="Caption"/>
          <p:cNvSpPr txBox="1"/>
          <p:nvPr/>
        </p:nvSpPr>
        <p:spPr>
          <a:xfrm>
            <a:off x="4416552"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548640" y="1664208"/>
            <a:ext cx="182880" cy="182880"/>
          </a:xfrm>
          <a:prstGeom prst="rect">
            <a:avLst/>
          </a:prstGeom>
          <a:solidFill>
            <a:schemeClr val="accent5"/>
          </a:solidFill>
          <a:ln w="12700">
            <a:solidFill>
              <a:schemeClr val="accent5"/>
            </a:solidFill>
            <a:prstDash val="solid"/>
          </a:ln>
        </p:spPr>
      </p:sp>
      <p:sp>
        <p:nvSpPr>
          <p:cNvPr id="7" name="Point 1 heading"/>
          <p:cNvSpPr txBox="1"/>
          <p:nvPr/>
        </p:nvSpPr>
        <p:spPr>
          <a:xfrm>
            <a:off x="896112" y="1600200"/>
            <a:ext cx="3172968" cy="329184"/>
          </a:xfrm>
          <a:prstGeom prst="rect">
            <a:avLst/>
          </a:prstGeom>
          <a:noFill/>
          <a:ln/>
        </p:spPr>
        <p:txBody>
          <a:bodyPr wrap="square" lIns="0" tIns="0" rIns="0" bIns="0" rtlCol="0" anchor="t"/>
          <a:lstStyle/>
          <a:p>
            <a:pPr indent="0" marL="0">
              <a:buNone/>
            </a:pPr>
            <a:r>
              <a:rPr lang="en-US" sz="1800" b="1" dirty="0">
                <a:solidFill>
                  <a:schemeClr val="tx1"/>
                </a:solidFill>
              </a:rPr>
              <a:t>Stale is a first-class signal</a:t>
            </a:r>
            <a:endParaRPr lang="en-US" sz="1800" dirty="0"/>
          </a:p>
        </p:txBody>
      </p:sp>
      <p:sp>
        <p:nvSpPr>
          <p:cNvPr id="8" name="Point 1 text"/>
          <p:cNvSpPr txBox="1"/>
          <p:nvPr/>
        </p:nvSpPr>
        <p:spPr>
          <a:xfrm>
            <a:off x="896112" y="196596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A goal past its check-in cadence is flagged, even when its last status was Green.</a:t>
            </a:r>
            <a:endParaRPr lang="en-US" sz="1400" dirty="0"/>
          </a:p>
        </p:txBody>
      </p:sp>
      <p:sp>
        <p:nvSpPr>
          <p:cNvPr id="9" name="Point 2 mark"/>
          <p:cNvSpPr/>
          <p:nvPr/>
        </p:nvSpPr>
        <p:spPr>
          <a:xfrm>
            <a:off x="54864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96112" y="3017520"/>
            <a:ext cx="3172968" cy="329184"/>
          </a:xfrm>
          <a:prstGeom prst="rect">
            <a:avLst/>
          </a:prstGeom>
          <a:noFill/>
          <a:ln/>
        </p:spPr>
        <p:txBody>
          <a:bodyPr wrap="square" lIns="0" tIns="0" rIns="0" bIns="0" rtlCol="0" anchor="t"/>
          <a:lstStyle/>
          <a:p>
            <a:pPr indent="0" marL="0">
              <a:buNone/>
            </a:pPr>
            <a:r>
              <a:rPr lang="en-US" sz="1800" b="1" dirty="0">
                <a:solidFill>
                  <a:schemeClr val="tx1"/>
                </a:solidFill>
              </a:rPr>
              <a:t>Grouped by who must act</a:t>
            </a:r>
            <a:endParaRPr lang="en-US" sz="1800" dirty="0"/>
          </a:p>
        </p:txBody>
      </p:sp>
      <p:sp>
        <p:nvSpPr>
          <p:cNvPr id="11" name="Point 2 text"/>
          <p:cNvSpPr txBox="1"/>
          <p:nvPr/>
        </p:nvSpPr>
        <p:spPr>
          <a:xfrm>
            <a:off x="896112" y="338328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Owner needs to update, plan doesn't fit, or needs an Admin.</a:t>
            </a:r>
            <a:endParaRPr lang="en-US" sz="1400" dirty="0"/>
          </a:p>
        </p:txBody>
      </p:sp>
      <p:sp>
        <p:nvSpPr>
          <p:cNvPr id="12" name="Point 3 mark"/>
          <p:cNvSpPr/>
          <p:nvPr/>
        </p:nvSpPr>
        <p:spPr>
          <a:xfrm>
            <a:off x="54864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96112" y="4434840"/>
            <a:ext cx="3172968" cy="329184"/>
          </a:xfrm>
          <a:prstGeom prst="rect">
            <a:avLst/>
          </a:prstGeom>
          <a:noFill/>
          <a:ln/>
        </p:spPr>
        <p:txBody>
          <a:bodyPr wrap="square" lIns="0" tIns="0" rIns="0" bIns="0" rtlCol="0" anchor="t"/>
          <a:lstStyle/>
          <a:p>
            <a:pPr indent="0" marL="0">
              <a:buNone/>
            </a:pPr>
            <a:r>
              <a:rPr lang="en-US" sz="1800" b="1" dirty="0">
                <a:solidFill>
                  <a:schemeClr val="tx1"/>
                </a:solidFill>
              </a:rPr>
              <a:t>One fix per row</a:t>
            </a:r>
            <a:endParaRPr lang="en-US" sz="1800" dirty="0"/>
          </a:p>
        </p:txBody>
      </p:sp>
      <p:sp>
        <p:nvSpPr>
          <p:cNvPr id="14" name="Point 3 text"/>
          <p:cNvSpPr txBox="1"/>
          <p:nvPr/>
        </p:nvSpPr>
        <p:spPr>
          <a:xfrm>
            <a:off x="896112" y="480060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Nudge the owner, suggest a parent, or compare dates. No looking up who owns what.</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Bad news comes with a plan and a date</a:t>
            </a:r>
            <a:endParaRPr lang="en-US" sz="3600" dirty="0"/>
          </a:p>
        </p:txBody>
      </p:sp>
      <p:sp>
        <p:nvSpPr>
          <p:cNvPr id="3" name="Goal page frame"/>
          <p:cNvSpPr/>
          <p:nvPr/>
        </p:nvSpPr>
        <p:spPr>
          <a:xfrm>
            <a:off x="548640"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Goal page" descr="A Red goal page showing latest status, Path to Green and milestones">    </p:cNvPr>
          <p:cNvPicPr>
            <a:picLocks noChangeAspect="1"/>
          </p:cNvPicPr>
          <p:nvPr/>
        </p:nvPicPr>
        <p:blipFill>
          <a:blip r:embed="rId1"/>
          <a:stretch>
            <a:fillRect/>
          </a:stretch>
        </p:blipFill>
        <p:spPr>
          <a:xfrm>
            <a:off x="548640" y="1463040"/>
            <a:ext cx="7223760" cy="4514850"/>
          </a:xfrm>
          <a:prstGeom prst="rect">
            <a:avLst/>
          </a:prstGeom>
        </p:spPr>
      </p:pic>
      <p:sp>
        <p:nvSpPr>
          <p:cNvPr id="5" name="Caption"/>
          <p:cNvSpPr txBox="1"/>
          <p:nvPr/>
        </p:nvSpPr>
        <p:spPr>
          <a:xfrm>
            <a:off x="548640"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8229600" y="1664208"/>
            <a:ext cx="182880" cy="182880"/>
          </a:xfrm>
          <a:prstGeom prst="rect">
            <a:avLst/>
          </a:prstGeom>
          <a:solidFill>
            <a:schemeClr val="accent2"/>
          </a:solidFill>
          <a:ln w="12700">
            <a:solidFill>
              <a:schemeClr val="accent2"/>
            </a:solidFill>
            <a:prstDash val="solid"/>
          </a:ln>
        </p:spPr>
      </p:sp>
      <p:sp>
        <p:nvSpPr>
          <p:cNvPr id="7" name="Point 1 heading"/>
          <p:cNvSpPr txBox="1"/>
          <p:nvPr/>
        </p:nvSpPr>
        <p:spPr>
          <a:xfrm>
            <a:off x="8577072" y="1600200"/>
            <a:ext cx="3063240" cy="329184"/>
          </a:xfrm>
          <a:prstGeom prst="rect">
            <a:avLst/>
          </a:prstGeom>
          <a:noFill/>
          <a:ln/>
        </p:spPr>
        <p:txBody>
          <a:bodyPr wrap="square" lIns="0" tIns="0" rIns="0" bIns="0" rtlCol="0" anchor="t"/>
          <a:lstStyle/>
          <a:p>
            <a:pPr indent="0" marL="0">
              <a:buNone/>
            </a:pPr>
            <a:r>
              <a:rPr lang="en-US" sz="1800" b="1" dirty="0">
                <a:solidFill>
                  <a:schemeClr val="tx1"/>
                </a:solidFill>
              </a:rPr>
              <a:t>Path to Green is required</a:t>
            </a:r>
            <a:endParaRPr lang="en-US" sz="1800" dirty="0"/>
          </a:p>
        </p:txBody>
      </p:sp>
      <p:sp>
        <p:nvSpPr>
          <p:cNvPr id="8" name="Point 1 text"/>
          <p:cNvSpPr txBox="1"/>
          <p:nvPr/>
        </p:nvSpPr>
        <p:spPr>
          <a:xfrm>
            <a:off x="8577072" y="196596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A Yellow or Red check-in must state the plan, or the help needed, and a back-to-Green date.</a:t>
            </a:r>
            <a:endParaRPr lang="en-US" sz="1400" dirty="0"/>
          </a:p>
        </p:txBody>
      </p:sp>
      <p:sp>
        <p:nvSpPr>
          <p:cNvPr id="9" name="Point 2 mark"/>
          <p:cNvSpPr/>
          <p:nvPr/>
        </p:nvSpPr>
        <p:spPr>
          <a:xfrm>
            <a:off x="822960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577072" y="3017520"/>
            <a:ext cx="3063240" cy="329184"/>
          </a:xfrm>
          <a:prstGeom prst="rect">
            <a:avLst/>
          </a:prstGeom>
          <a:noFill/>
          <a:ln/>
        </p:spPr>
        <p:txBody>
          <a:bodyPr wrap="square" lIns="0" tIns="0" rIns="0" bIns="0" rtlCol="0" anchor="t"/>
          <a:lstStyle/>
          <a:p>
            <a:pPr indent="0" marL="0">
              <a:buNone/>
            </a:pPr>
            <a:r>
              <a:rPr lang="en-US" sz="1800" b="1" dirty="0">
                <a:solidFill>
                  <a:schemeClr val="tx1"/>
                </a:solidFill>
              </a:rPr>
              <a:t>Overdue plans are flagged</a:t>
            </a:r>
            <a:endParaRPr lang="en-US" sz="1800" dirty="0"/>
          </a:p>
        </p:txBody>
      </p:sp>
      <p:sp>
        <p:nvSpPr>
          <p:cNvPr id="11" name="Point 2 text"/>
          <p:cNvSpPr txBox="1"/>
          <p:nvPr/>
        </p:nvSpPr>
        <p:spPr>
          <a:xfrm>
            <a:off x="8577072" y="338328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If that date passes and the goal still isn't Green, it is flagged as loudly as Red.</a:t>
            </a:r>
            <a:endParaRPr lang="en-US" sz="1400" dirty="0"/>
          </a:p>
        </p:txBody>
      </p:sp>
      <p:sp>
        <p:nvSpPr>
          <p:cNvPr id="12" name="Point 3 mark"/>
          <p:cNvSpPr/>
          <p:nvPr/>
        </p:nvSpPr>
        <p:spPr>
          <a:xfrm>
            <a:off x="822960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577072" y="4434840"/>
            <a:ext cx="3063240" cy="329184"/>
          </a:xfrm>
          <a:prstGeom prst="rect">
            <a:avLst/>
          </a:prstGeom>
          <a:noFill/>
          <a:ln/>
        </p:spPr>
        <p:txBody>
          <a:bodyPr wrap="square" lIns="0" tIns="0" rIns="0" bIns="0" rtlCol="0" anchor="t"/>
          <a:lstStyle/>
          <a:p>
            <a:pPr indent="0" marL="0">
              <a:buNone/>
            </a:pPr>
            <a:r>
              <a:rPr lang="en-US" sz="1800" b="1" dirty="0">
                <a:solidFill>
                  <a:schemeClr val="tx1"/>
                </a:solidFill>
              </a:rPr>
              <a:t>The history is kept</a:t>
            </a:r>
            <a:endParaRPr lang="en-US" sz="1800" dirty="0"/>
          </a:p>
        </p:txBody>
      </p:sp>
      <p:sp>
        <p:nvSpPr>
          <p:cNvPr id="14" name="Point 3 text"/>
          <p:cNvSpPr txBox="1"/>
          <p:nvPr/>
        </p:nvSpPr>
        <p:spPr>
          <a:xfrm>
            <a:off x="8577072" y="480060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Every check-in, date slip and ownership change, week by week.</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takes a manager about a minute</a:t>
            </a:r>
            <a:endParaRPr lang="en-US" sz="3600" dirty="0"/>
          </a:p>
        </p:txBody>
      </p:sp>
      <p:sp>
        <p:nvSpPr>
          <p:cNvPr id="3" name="Video frame"/>
          <p:cNvSpPr/>
          <p:nvPr/>
        </p:nvSpPr>
        <p:spPr>
          <a:xfrm>
            <a:off x="548640" y="1463040"/>
            <a:ext cx="7315200" cy="411480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3" name="Check-in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63040"/>
            <a:ext cx="7315200" cy="4114800"/>
          </a:xfrm>
          <a:prstGeom prst="rect">
            <a:avLst/>
          </a:prstGeom>
        </p:spPr>
      </p:pic>
      <p:sp>
        <p:nvSpPr>
          <p:cNvPr id="5" name="Caption"/>
          <p:cNvSpPr txBox="1"/>
          <p:nvPr/>
        </p:nvSpPr>
        <p:spPr>
          <a:xfrm>
            <a:off x="548640" y="5715000"/>
            <a:ext cx="7315200" cy="256032"/>
          </a:xfrm>
          <a:prstGeom prst="rect">
            <a:avLst/>
          </a:prstGeom>
          <a:noFill/>
          <a:ln/>
        </p:spPr>
        <p:txBody>
          <a:bodyPr wrap="square" lIns="0" tIns="0" rIns="0" bIns="0" rtlCol="0" anchor="ctr"/>
          <a:lstStyle/>
          <a:p>
            <a:pPr indent="0" marL="0">
              <a:buNone/>
            </a:pPr>
            <a:r>
              <a:rPr lang="en-US" sz="1000" i="1" dirty="0">
                <a:solidFill>
                  <a:schemeClr val="accent5"/>
                </a:solidFill>
              </a:rPr>
              <a:t>20-second recording of a real check-in on the demo org. Click to play.</a:t>
            </a:r>
            <a:endParaRPr lang="en-US" sz="1000" dirty="0"/>
          </a:p>
        </p:txBody>
      </p:sp>
      <p:sp>
        <p:nvSpPr>
          <p:cNvPr id="6" name="Point 1 mark"/>
          <p:cNvSpPr/>
          <p:nvPr/>
        </p:nvSpPr>
        <p:spPr>
          <a:xfrm>
            <a:off x="8321040" y="1664208"/>
            <a:ext cx="182880" cy="182880"/>
          </a:xfrm>
          <a:prstGeom prst="ellipse">
            <a:avLst/>
          </a:prstGeom>
          <a:solidFill>
            <a:schemeClr val="accent4"/>
          </a:solidFill>
          <a:ln w="12700">
            <a:solidFill>
              <a:schemeClr val="accent4"/>
            </a:solidFill>
            <a:prstDash val="solid"/>
          </a:ln>
        </p:spPr>
      </p:sp>
      <p:sp>
        <p:nvSpPr>
          <p:cNvPr id="7" name="Point 1 heading"/>
          <p:cNvSpPr txBox="1"/>
          <p:nvPr/>
        </p:nvSpPr>
        <p:spPr>
          <a:xfrm>
            <a:off x="8668512" y="1600200"/>
            <a:ext cx="2971800" cy="329184"/>
          </a:xfrm>
          <a:prstGeom prst="rect">
            <a:avLst/>
          </a:prstGeom>
          <a:noFill/>
          <a:ln/>
        </p:spPr>
        <p:txBody>
          <a:bodyPr wrap="square" lIns="0" tIns="0" rIns="0" bIns="0" rtlCol="0" anchor="t"/>
          <a:lstStyle/>
          <a:p>
            <a:pPr indent="0" marL="0">
              <a:buNone/>
            </a:pPr>
            <a:r>
              <a:rPr lang="en-US" sz="1800" b="1" dirty="0">
                <a:solidFill>
                  <a:schemeClr val="tx1"/>
                </a:solidFill>
              </a:rPr>
              <a:t>Home says what's due</a:t>
            </a:r>
            <a:endParaRPr lang="en-US" sz="1800" dirty="0"/>
          </a:p>
        </p:txBody>
      </p:sp>
      <p:sp>
        <p:nvSpPr>
          <p:cNvPr id="8" name="Point 1 text"/>
          <p:cNvSpPr txBox="1"/>
          <p:nvPr/>
        </p:nvSpPr>
        <p:spPr>
          <a:xfrm>
            <a:off x="8668512" y="1965960"/>
            <a:ext cx="2971800" cy="914400"/>
          </a:xfrm>
          <a:prstGeom prst="rect">
            <a:avLst/>
          </a:prstGeom>
          <a:noFill/>
          <a:ln/>
        </p:spPr>
        <p:txBody>
          <a:bodyPr wrap="square" lIns="0" tIns="0" rIns="0" bIns="0" rtlCol="0" anchor="t"/>
          <a:lstStyle/>
          <a:p>
            <a:pPr indent="0" marL="0">
              <a:buNone/>
            </a:pPr>
            <a:r>
              <a:rPr lang="en-US" sz="1400" dirty="0">
                <a:solidFill>
                  <a:schemeClr val="accent5"/>
                </a:solidFill>
              </a:rPr>
              <a:t>"Your week" lists the check-ins that need you, and why each is listed.</a:t>
            </a:r>
            <a:endParaRPr lang="en-US" sz="1400" dirty="0"/>
          </a:p>
        </p:txBody>
      </p:sp>
      <p:sp>
        <p:nvSpPr>
          <p:cNvPr id="9" name="Point 2 mark"/>
          <p:cNvSpPr/>
          <p:nvPr/>
        </p:nvSpPr>
        <p:spPr>
          <a:xfrm>
            <a:off x="8321040" y="3081528"/>
            <a:ext cx="182880" cy="182880"/>
          </a:xfrm>
          <a:prstGeom prst="ellipse">
            <a:avLst/>
          </a:prstGeom>
          <a:solidFill>
            <a:schemeClr val="accent4"/>
          </a:solidFill>
          <a:ln w="12700">
            <a:solidFill>
              <a:schemeClr val="accent4"/>
            </a:solidFill>
            <a:prstDash val="solid"/>
          </a:ln>
        </p:spPr>
      </p:sp>
      <p:sp>
        <p:nvSpPr>
          <p:cNvPr id="10" name="Point 2 heading"/>
          <p:cNvSpPr txBox="1"/>
          <p:nvPr/>
        </p:nvSpPr>
        <p:spPr>
          <a:xfrm>
            <a:off x="8668512" y="3017520"/>
            <a:ext cx="2971800" cy="329184"/>
          </a:xfrm>
          <a:prstGeom prst="rect">
            <a:avLst/>
          </a:prstGeom>
          <a:noFill/>
          <a:ln/>
        </p:spPr>
        <p:txBody>
          <a:bodyPr wrap="square" lIns="0" tIns="0" rIns="0" bIns="0" rtlCol="0" anchor="t"/>
          <a:lstStyle/>
          <a:p>
            <a:pPr indent="0" marL="0">
              <a:buNone/>
            </a:pPr>
            <a:r>
              <a:rPr lang="en-US" sz="1800" b="1" dirty="0">
                <a:solidFill>
                  <a:schemeClr val="tx1"/>
                </a:solidFill>
              </a:rPr>
              <a:t>No change is one click</a:t>
            </a:r>
            <a:endParaRPr lang="en-US" sz="1800" dirty="0"/>
          </a:p>
        </p:txBody>
      </p:sp>
      <p:sp>
        <p:nvSpPr>
          <p:cNvPr id="11" name="Point 2 text"/>
          <p:cNvSpPr txBox="1"/>
          <p:nvPr/>
        </p:nvSpPr>
        <p:spPr>
          <a:xfrm>
            <a:off x="8668512" y="3383280"/>
            <a:ext cx="2971800" cy="914400"/>
          </a:xfrm>
          <a:prstGeom prst="rect">
            <a:avLst/>
          </a:prstGeom>
          <a:noFill/>
          <a:ln/>
        </p:spPr>
        <p:txBody>
          <a:bodyPr wrap="square" lIns="0" tIns="0" rIns="0" bIns="0" rtlCol="0" anchor="t"/>
          <a:lstStyle/>
          <a:p>
            <a:pPr indent="0" marL="0">
              <a:buNone/>
            </a:pPr>
            <a:r>
              <a:rPr lang="en-US" sz="1400" dirty="0">
                <a:solidFill>
                  <a:schemeClr val="accent5"/>
                </a:solidFill>
              </a:rPr>
              <a:t>A routine week records the same Health and status with today's date.</a:t>
            </a:r>
            <a:endParaRPr lang="en-US" sz="1400" dirty="0"/>
          </a:p>
        </p:txBody>
      </p:sp>
      <p:sp>
        <p:nvSpPr>
          <p:cNvPr id="12" name="Point 3 mark"/>
          <p:cNvSpPr/>
          <p:nvPr/>
        </p:nvSpPr>
        <p:spPr>
          <a:xfrm>
            <a:off x="8321040" y="4498848"/>
            <a:ext cx="182880" cy="182880"/>
          </a:xfrm>
          <a:prstGeom prst="triangle">
            <a:avLst/>
          </a:prstGeom>
          <a:solidFill>
            <a:schemeClr val="accent3"/>
          </a:solidFill>
          <a:ln w="12700">
            <a:solidFill>
              <a:schemeClr val="accent3"/>
            </a:solidFill>
            <a:prstDash val="solid"/>
          </a:ln>
        </p:spPr>
      </p:sp>
      <p:sp>
        <p:nvSpPr>
          <p:cNvPr id="13" name="Point 3 heading"/>
          <p:cNvSpPr txBox="1"/>
          <p:nvPr/>
        </p:nvSpPr>
        <p:spPr>
          <a:xfrm>
            <a:off x="8668512" y="4434840"/>
            <a:ext cx="2971800" cy="329184"/>
          </a:xfrm>
          <a:prstGeom prst="rect">
            <a:avLst/>
          </a:prstGeom>
          <a:noFill/>
          <a:ln/>
        </p:spPr>
        <p:txBody>
          <a:bodyPr wrap="square" lIns="0" tIns="0" rIns="0" bIns="0" rtlCol="0" anchor="t"/>
          <a:lstStyle/>
          <a:p>
            <a:pPr indent="0" marL="0">
              <a:buNone/>
            </a:pPr>
            <a:r>
              <a:rPr lang="en-US" sz="1800" b="1" dirty="0">
                <a:solidFill>
                  <a:schemeClr val="tx1"/>
                </a:solidFill>
              </a:rPr>
              <a:t>Hard to get wrong</a:t>
            </a:r>
            <a:endParaRPr lang="en-US" sz="1800" dirty="0"/>
          </a:p>
        </p:txBody>
      </p:sp>
      <p:sp>
        <p:nvSpPr>
          <p:cNvPr id="14" name="Point 3 text"/>
          <p:cNvSpPr txBox="1"/>
          <p:nvPr/>
        </p:nvSpPr>
        <p:spPr>
          <a:xfrm>
            <a:off x="8668512" y="4800600"/>
            <a:ext cx="2971800" cy="914400"/>
          </a:xfrm>
          <a:prstGeom prst="rect">
            <a:avLst/>
          </a:prstGeom>
          <a:noFill/>
          <a:ln/>
        </p:spPr>
        <p:txBody>
          <a:bodyPr wrap="square" lIns="0" tIns="0" rIns="0" bIns="0" rtlCol="0" anchor="t"/>
          <a:lstStyle/>
          <a:p>
            <a:pPr indent="0" marL="0">
              <a:buNone/>
            </a:pPr>
            <a:r>
              <a:rPr lang="en-US" sz="1400" dirty="0">
                <a:solidFill>
                  <a:schemeClr val="accent5"/>
                </a:solidFill>
              </a:rPr>
              <a:t>The form starts from last week's answers and asks for a plan only when Health isn't Green.</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monthly review writes itself</a:t>
            </a:r>
            <a:endParaRPr lang="en-US" sz="3600" dirty="0"/>
          </a:p>
        </p:txBody>
      </p:sp>
      <p:sp>
        <p:nvSpPr>
          <p:cNvPr id="3" name="Published report frame"/>
          <p:cNvSpPr/>
          <p:nvPr/>
        </p:nvSpPr>
        <p:spPr>
          <a:xfrm>
            <a:off x="4416552"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Published report" descr="A published Growth monthly review with a Health summary and a Red goal in full">    </p:cNvPr>
          <p:cNvPicPr>
            <a:picLocks noChangeAspect="1"/>
          </p:cNvPicPr>
          <p:nvPr/>
        </p:nvPicPr>
        <p:blipFill>
          <a:blip r:embed="rId1"/>
          <a:stretch>
            <a:fillRect/>
          </a:stretch>
        </p:blipFill>
        <p:spPr>
          <a:xfrm>
            <a:off x="4416552" y="1463040"/>
            <a:ext cx="7223760" cy="4514850"/>
          </a:xfrm>
          <a:prstGeom prst="rect">
            <a:avLst/>
          </a:prstGeom>
        </p:spPr>
      </p:pic>
      <p:sp>
        <p:nvSpPr>
          <p:cNvPr id="5" name="Caption"/>
          <p:cNvSpPr txBox="1"/>
          <p:nvPr/>
        </p:nvSpPr>
        <p:spPr>
          <a:xfrm>
            <a:off x="4416552"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548640" y="1664208"/>
            <a:ext cx="182880" cy="182880"/>
          </a:xfrm>
          <a:prstGeom prst="rect">
            <a:avLst/>
          </a:prstGeom>
          <a:solidFill>
            <a:schemeClr val="accent2"/>
          </a:solidFill>
          <a:ln w="12700">
            <a:solidFill>
              <a:schemeClr val="accent2"/>
            </a:solidFill>
            <a:prstDash val="solid"/>
          </a:ln>
        </p:spPr>
      </p:sp>
      <p:sp>
        <p:nvSpPr>
          <p:cNvPr id="7" name="Point 1 heading"/>
          <p:cNvSpPr txBox="1"/>
          <p:nvPr/>
        </p:nvSpPr>
        <p:spPr>
          <a:xfrm>
            <a:off x="896112" y="1600200"/>
            <a:ext cx="3172968" cy="329184"/>
          </a:xfrm>
          <a:prstGeom prst="rect">
            <a:avLst/>
          </a:prstGeom>
          <a:noFill/>
          <a:ln/>
        </p:spPr>
        <p:txBody>
          <a:bodyPr wrap="square" lIns="0" tIns="0" rIns="0" bIns="0" rtlCol="0" anchor="t"/>
          <a:lstStyle/>
          <a:p>
            <a:pPr indent="0" marL="0">
              <a:buNone/>
            </a:pPr>
            <a:r>
              <a:rPr lang="en-US" sz="1800" b="1" dirty="0">
                <a:solidFill>
                  <a:schemeClr val="tx1"/>
                </a:solidFill>
              </a:rPr>
              <a:t>Exceptions in full</a:t>
            </a:r>
            <a:endParaRPr lang="en-US" sz="1800" dirty="0"/>
          </a:p>
        </p:txBody>
      </p:sp>
      <p:sp>
        <p:nvSpPr>
          <p:cNvPr id="8" name="Point 1 text"/>
          <p:cNvSpPr txBox="1"/>
          <p:nvPr/>
        </p:nvSpPr>
        <p:spPr>
          <a:xfrm>
            <a:off x="896112" y="196596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So What, status, Path to Green and milestones for each. Unchanged Green goals take one line.</a:t>
            </a:r>
            <a:endParaRPr lang="en-US" sz="1400" dirty="0"/>
          </a:p>
        </p:txBody>
      </p:sp>
      <p:sp>
        <p:nvSpPr>
          <p:cNvPr id="9" name="Point 2 mark"/>
          <p:cNvSpPr/>
          <p:nvPr/>
        </p:nvSpPr>
        <p:spPr>
          <a:xfrm>
            <a:off x="54864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96112" y="3017520"/>
            <a:ext cx="3172968" cy="329184"/>
          </a:xfrm>
          <a:prstGeom prst="rect">
            <a:avLst/>
          </a:prstGeom>
          <a:noFill/>
          <a:ln/>
        </p:spPr>
        <p:txBody>
          <a:bodyPr wrap="square" lIns="0" tIns="0" rIns="0" bIns="0" rtlCol="0" anchor="t"/>
          <a:lstStyle/>
          <a:p>
            <a:pPr indent="0" marL="0">
              <a:buNone/>
            </a:pPr>
            <a:r>
              <a:rPr lang="en-US" sz="1800" b="1" dirty="0">
                <a:solidFill>
                  <a:schemeClr val="tx1"/>
                </a:solidFill>
              </a:rPr>
              <a:t>Shows what changed</a:t>
            </a:r>
            <a:endParaRPr lang="en-US" sz="1800" dirty="0"/>
          </a:p>
        </p:txBody>
      </p:sp>
      <p:sp>
        <p:nvSpPr>
          <p:cNvPr id="11" name="Point 2 text"/>
          <p:cNvSpPr txBox="1"/>
          <p:nvPr/>
        </p:nvSpPr>
        <p:spPr>
          <a:xfrm>
            <a:off x="896112" y="338328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Each publication is a frozen snapshot. The next one shows what moved since.</a:t>
            </a:r>
            <a:endParaRPr lang="en-US" sz="1400" dirty="0"/>
          </a:p>
        </p:txBody>
      </p:sp>
      <p:sp>
        <p:nvSpPr>
          <p:cNvPr id="12" name="Point 3 mark"/>
          <p:cNvSpPr/>
          <p:nvPr/>
        </p:nvSpPr>
        <p:spPr>
          <a:xfrm>
            <a:off x="54864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96112" y="4434840"/>
            <a:ext cx="3172968" cy="329184"/>
          </a:xfrm>
          <a:prstGeom prst="rect">
            <a:avLst/>
          </a:prstGeom>
          <a:noFill/>
          <a:ln/>
        </p:spPr>
        <p:txBody>
          <a:bodyPr wrap="square" lIns="0" tIns="0" rIns="0" bIns="0" rtlCol="0" anchor="t"/>
          <a:lstStyle/>
          <a:p>
            <a:pPr indent="0" marL="0">
              <a:buNone/>
            </a:pPr>
            <a:r>
              <a:rPr lang="en-US" sz="1800" b="1" dirty="0">
                <a:solidFill>
                  <a:schemeClr val="tx1"/>
                </a:solidFill>
              </a:rPr>
              <a:t>Questions reach the owner</a:t>
            </a:r>
            <a:endParaRPr lang="en-US" sz="1800" dirty="0"/>
          </a:p>
        </p:txBody>
      </p:sp>
      <p:sp>
        <p:nvSpPr>
          <p:cNvPr id="14" name="Point 3 text"/>
          <p:cNvSpPr txBox="1"/>
          <p:nvPr/>
        </p:nvSpPr>
        <p:spPr>
          <a:xfrm>
            <a:off x="896112" y="480060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Comments route to the goal's owner. Action Items carry forward until closed.</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972800" cy="914400"/>
          </a:xfrm>
          <a:prstGeom prst="rect">
            <a:avLst/>
          </a:prstGeom>
          <a:noFill/>
          <a:ln/>
        </p:spPr>
        <p:txBody>
          <a:bodyPr wrap="square" lIns="0" tIns="0" rIns="0" bIns="0" rtlCol="0" anchor="ctr"/>
          <a:lstStyle/>
          <a:p>
            <a:pPr algn="l" indent="0" marL="0">
              <a:buNone/>
            </a:pPr>
            <a:r>
              <a:rPr lang="en-US" sz="4000" b="1" dirty="0">
                <a:solidFill>
                  <a:schemeClr val="bg1"/>
                </a:solidFill>
              </a:rPr>
              <a:t>The ask: pilot one org for one review cycle</a:t>
            </a:r>
            <a:endParaRPr lang="en-US" sz="4000" dirty="0"/>
          </a:p>
        </p:txBody>
      </p:sp>
      <p:sp>
        <p:nvSpPr>
          <p:cNvPr id="3" name="Plan 1 card"/>
          <p:cNvSpPr/>
          <p:nvPr/>
        </p:nvSpPr>
        <p:spPr>
          <a:xfrm>
            <a:off x="640080" y="1828800"/>
            <a:ext cx="3383280" cy="2651760"/>
          </a:xfrm>
          <a:prstGeom prst="roundRect">
            <a:avLst>
              <a:gd name="adj" fmla="val 2759"/>
            </a:avLst>
          </a:prstGeom>
          <a:solidFill>
            <a:schemeClr val="accent1"/>
          </a:solidFill>
          <a:ln w="12700">
            <a:solidFill>
              <a:schemeClr val="accent1"/>
            </a:solidFill>
            <a:prstDash val="solid"/>
          </a:ln>
        </p:spPr>
      </p:sp>
      <p:sp>
        <p:nvSpPr>
          <p:cNvPr id="4" name="Plan 1 number"/>
          <p:cNvSpPr txBox="1"/>
          <p:nvPr/>
        </p:nvSpPr>
        <p:spPr>
          <a:xfrm>
            <a:off x="914400" y="2011680"/>
            <a:ext cx="914400" cy="731520"/>
          </a:xfrm>
          <a:prstGeom prst="rect">
            <a:avLst/>
          </a:prstGeom>
          <a:noFill/>
          <a:ln/>
        </p:spPr>
        <p:txBody>
          <a:bodyPr wrap="square" lIns="0" tIns="0" rIns="0" bIns="0" rtlCol="0" anchor="ctr"/>
          <a:lstStyle/>
          <a:p>
            <a:pPr indent="0" marL="0">
              <a:buNone/>
            </a:pPr>
            <a:r>
              <a:rPr lang="en-US" sz="4400" b="1" dirty="0">
                <a:solidFill>
                  <a:schemeClr val="accent6"/>
                </a:solidFill>
              </a:rPr>
              <a:t>1</a:t>
            </a:r>
            <a:endParaRPr lang="en-US" sz="4400" dirty="0"/>
          </a:p>
        </p:txBody>
      </p:sp>
      <p:sp>
        <p:nvSpPr>
          <p:cNvPr id="5" name="Plan 1 heading"/>
          <p:cNvSpPr txBox="1"/>
          <p:nvPr/>
        </p:nvSpPr>
        <p:spPr>
          <a:xfrm>
            <a:off x="914400" y="2788920"/>
            <a:ext cx="2834640" cy="685800"/>
          </a:xfrm>
          <a:prstGeom prst="rect">
            <a:avLst/>
          </a:prstGeom>
          <a:noFill/>
          <a:ln/>
        </p:spPr>
        <p:txBody>
          <a:bodyPr wrap="square" lIns="0" tIns="0" rIns="0" bIns="0" rtlCol="0" anchor="t"/>
          <a:lstStyle/>
          <a:p>
            <a:pPr indent="0" marL="0">
              <a:buNone/>
            </a:pPr>
            <a:r>
              <a:rPr lang="en-US" sz="2000" b="1" dirty="0">
                <a:solidFill>
                  <a:schemeClr val="bg1"/>
                </a:solidFill>
              </a:rPr>
              <a:t>Load one org's goals</a:t>
            </a:r>
            <a:endParaRPr lang="en-US" sz="2000" dirty="0"/>
          </a:p>
        </p:txBody>
      </p:sp>
      <p:sp>
        <p:nvSpPr>
          <p:cNvPr id="6" name="Plan 1 text"/>
          <p:cNvSpPr txBox="1"/>
          <p:nvPr/>
        </p:nvSpPr>
        <p:spPr>
          <a:xfrm>
            <a:off x="914400" y="3493008"/>
            <a:ext cx="2834640" cy="822960"/>
          </a:xfrm>
          <a:prstGeom prst="rect">
            <a:avLst/>
          </a:prstGeom>
          <a:noFill/>
          <a:ln/>
        </p:spPr>
        <p:txBody>
          <a:bodyPr wrap="square" lIns="0" tIns="0" rIns="0" bIns="0" rtlCol="0" anchor="t"/>
          <a:lstStyle/>
          <a:p>
            <a:pPr indent="0" marL="0">
              <a:buNone/>
            </a:pPr>
            <a:r>
              <a:rPr lang="en-US" sz="1400" dirty="0">
                <a:solidFill>
                  <a:schemeClr val="bg1"/>
                </a:solidFill>
              </a:rPr>
              <a:t>Owners state each goal, its So What, and what it contributes to.</a:t>
            </a:r>
            <a:endParaRPr lang="en-US" sz="1400" dirty="0"/>
          </a:p>
        </p:txBody>
      </p:sp>
      <p:sp>
        <p:nvSpPr>
          <p:cNvPr id="7" name="Plan 2 card"/>
          <p:cNvSpPr/>
          <p:nvPr/>
        </p:nvSpPr>
        <p:spPr>
          <a:xfrm>
            <a:off x="4389120" y="1828800"/>
            <a:ext cx="3383280" cy="2651760"/>
          </a:xfrm>
          <a:prstGeom prst="roundRect">
            <a:avLst>
              <a:gd name="adj" fmla="val 2759"/>
            </a:avLst>
          </a:prstGeom>
          <a:solidFill>
            <a:schemeClr val="accent1"/>
          </a:solidFill>
          <a:ln w="12700">
            <a:solidFill>
              <a:schemeClr val="accent1"/>
            </a:solidFill>
            <a:prstDash val="solid"/>
          </a:ln>
        </p:spPr>
      </p:sp>
      <p:sp>
        <p:nvSpPr>
          <p:cNvPr id="8" name="Plan 2 number"/>
          <p:cNvSpPr txBox="1"/>
          <p:nvPr/>
        </p:nvSpPr>
        <p:spPr>
          <a:xfrm>
            <a:off x="4663440" y="2011680"/>
            <a:ext cx="914400" cy="731520"/>
          </a:xfrm>
          <a:prstGeom prst="rect">
            <a:avLst/>
          </a:prstGeom>
          <a:noFill/>
          <a:ln/>
        </p:spPr>
        <p:txBody>
          <a:bodyPr wrap="square" lIns="0" tIns="0" rIns="0" bIns="0" rtlCol="0" anchor="ctr"/>
          <a:lstStyle/>
          <a:p>
            <a:pPr indent="0" marL="0">
              <a:buNone/>
            </a:pPr>
            <a:r>
              <a:rPr lang="en-US" sz="4400" b="1" dirty="0">
                <a:solidFill>
                  <a:schemeClr val="accent6"/>
                </a:solidFill>
              </a:rPr>
              <a:t>2</a:t>
            </a:r>
            <a:endParaRPr lang="en-US" sz="4400" dirty="0"/>
          </a:p>
        </p:txBody>
      </p:sp>
      <p:sp>
        <p:nvSpPr>
          <p:cNvPr id="9" name="Plan 2 heading"/>
          <p:cNvSpPr txBox="1"/>
          <p:nvPr/>
        </p:nvSpPr>
        <p:spPr>
          <a:xfrm>
            <a:off x="4663440" y="2788920"/>
            <a:ext cx="2834640" cy="685800"/>
          </a:xfrm>
          <a:prstGeom prst="rect">
            <a:avLst/>
          </a:prstGeom>
          <a:noFill/>
          <a:ln/>
        </p:spPr>
        <p:txBody>
          <a:bodyPr wrap="square" lIns="0" tIns="0" rIns="0" bIns="0" rtlCol="0" anchor="t"/>
          <a:lstStyle/>
          <a:p>
            <a:pPr indent="0" marL="0">
              <a:buNone/>
            </a:pPr>
            <a:r>
              <a:rPr lang="en-US" sz="2000" b="1" dirty="0">
                <a:solidFill>
                  <a:schemeClr val="bg1"/>
                </a:solidFill>
              </a:rPr>
              <a:t>Check in weekly for a month</a:t>
            </a:r>
            <a:endParaRPr lang="en-US" sz="2000" dirty="0"/>
          </a:p>
        </p:txBody>
      </p:sp>
      <p:sp>
        <p:nvSpPr>
          <p:cNvPr id="10" name="Plan 2 text"/>
          <p:cNvSpPr txBox="1"/>
          <p:nvPr/>
        </p:nvSpPr>
        <p:spPr>
          <a:xfrm>
            <a:off x="4663440" y="3493008"/>
            <a:ext cx="2834640" cy="822960"/>
          </a:xfrm>
          <a:prstGeom prst="rect">
            <a:avLst/>
          </a:prstGeom>
          <a:noFill/>
          <a:ln/>
        </p:spPr>
        <p:txBody>
          <a:bodyPr wrap="square" lIns="0" tIns="0" rIns="0" bIns="0" rtlCol="0" anchor="t"/>
          <a:lstStyle/>
          <a:p>
            <a:pPr indent="0" marL="0">
              <a:buNone/>
            </a:pPr>
            <a:r>
              <a:rPr lang="en-US" sz="1400" dirty="0">
                <a:solidFill>
                  <a:schemeClr val="bg1"/>
                </a:solidFill>
              </a:rPr>
              <a:t>About a minute per goal. Reminders and nudges do the chasing.</a:t>
            </a:r>
            <a:endParaRPr lang="en-US" sz="1400" dirty="0"/>
          </a:p>
        </p:txBody>
      </p:sp>
      <p:sp>
        <p:nvSpPr>
          <p:cNvPr id="11" name="Plan 3 card"/>
          <p:cNvSpPr/>
          <p:nvPr/>
        </p:nvSpPr>
        <p:spPr>
          <a:xfrm>
            <a:off x="8138160" y="1828800"/>
            <a:ext cx="3383280" cy="2651760"/>
          </a:xfrm>
          <a:prstGeom prst="roundRect">
            <a:avLst>
              <a:gd name="adj" fmla="val 2759"/>
            </a:avLst>
          </a:prstGeom>
          <a:solidFill>
            <a:schemeClr val="accent1"/>
          </a:solidFill>
          <a:ln w="12700">
            <a:solidFill>
              <a:schemeClr val="accent1"/>
            </a:solidFill>
            <a:prstDash val="solid"/>
          </a:ln>
        </p:spPr>
      </p:sp>
      <p:sp>
        <p:nvSpPr>
          <p:cNvPr id="12" name="Plan 3 number"/>
          <p:cNvSpPr txBox="1"/>
          <p:nvPr/>
        </p:nvSpPr>
        <p:spPr>
          <a:xfrm>
            <a:off x="8412480" y="2011680"/>
            <a:ext cx="914400" cy="731520"/>
          </a:xfrm>
          <a:prstGeom prst="rect">
            <a:avLst/>
          </a:prstGeom>
          <a:noFill/>
          <a:ln/>
        </p:spPr>
        <p:txBody>
          <a:bodyPr wrap="square" lIns="0" tIns="0" rIns="0" bIns="0" rtlCol="0" anchor="ctr"/>
          <a:lstStyle/>
          <a:p>
            <a:pPr indent="0" marL="0">
              <a:buNone/>
            </a:pPr>
            <a:r>
              <a:rPr lang="en-US" sz="4400" b="1" dirty="0">
                <a:solidFill>
                  <a:schemeClr val="accent6"/>
                </a:solidFill>
              </a:rPr>
              <a:t>3</a:t>
            </a:r>
            <a:endParaRPr lang="en-US" sz="4400" dirty="0"/>
          </a:p>
        </p:txBody>
      </p:sp>
      <p:sp>
        <p:nvSpPr>
          <p:cNvPr id="13" name="Plan 3 heading"/>
          <p:cNvSpPr txBox="1"/>
          <p:nvPr/>
        </p:nvSpPr>
        <p:spPr>
          <a:xfrm>
            <a:off x="8412480" y="2788920"/>
            <a:ext cx="2834640" cy="685800"/>
          </a:xfrm>
          <a:prstGeom prst="rect">
            <a:avLst/>
          </a:prstGeom>
          <a:noFill/>
          <a:ln/>
        </p:spPr>
        <p:txBody>
          <a:bodyPr wrap="square" lIns="0" tIns="0" rIns="0" bIns="0" rtlCol="0" anchor="t"/>
          <a:lstStyle/>
          <a:p>
            <a:pPr indent="0" marL="0">
              <a:buNone/>
            </a:pPr>
            <a:r>
              <a:rPr lang="en-US" sz="2000" b="1" dirty="0">
                <a:solidFill>
                  <a:schemeClr val="bg1"/>
                </a:solidFill>
              </a:rPr>
              <a:t>Run the review from the Report</a:t>
            </a:r>
            <a:endParaRPr lang="en-US" sz="2000" dirty="0"/>
          </a:p>
        </p:txBody>
      </p:sp>
      <p:sp>
        <p:nvSpPr>
          <p:cNvPr id="14" name="Plan 3 text"/>
          <p:cNvSpPr txBox="1"/>
          <p:nvPr/>
        </p:nvSpPr>
        <p:spPr>
          <a:xfrm>
            <a:off x="8412480" y="3493008"/>
            <a:ext cx="2834640" cy="822960"/>
          </a:xfrm>
          <a:prstGeom prst="rect">
            <a:avLst/>
          </a:prstGeom>
          <a:noFill/>
          <a:ln/>
        </p:spPr>
        <p:txBody>
          <a:bodyPr wrap="square" lIns="0" tIns="0" rIns="0" bIns="0" rtlCol="0" anchor="t"/>
          <a:lstStyle/>
          <a:p>
            <a:pPr indent="0" marL="0">
              <a:buNone/>
            </a:pPr>
            <a:r>
              <a:rPr lang="en-US" sz="1400" dirty="0">
                <a:solidFill>
                  <a:schemeClr val="bg1"/>
                </a:solidFill>
              </a:rPr>
              <a:t>No hand-built status deck. It publishes from the check-ins.</a:t>
            </a:r>
            <a:endParaRPr lang="en-US" sz="1400" dirty="0"/>
          </a:p>
        </p:txBody>
      </p:sp>
      <p:sp>
        <p:nvSpPr>
          <p:cNvPr id="15" name="Success test"/>
          <p:cNvSpPr txBox="1"/>
          <p:nvPr/>
        </p:nvSpPr>
        <p:spPr>
          <a:xfrm>
            <a:off x="640080" y="5029200"/>
            <a:ext cx="10881360" cy="822960"/>
          </a:xfrm>
          <a:prstGeom prst="rect">
            <a:avLst/>
          </a:prstGeom>
          <a:noFill/>
          <a:ln/>
        </p:spPr>
        <p:txBody>
          <a:bodyPr wrap="square" lIns="0" tIns="0" rIns="0" bIns="0" rtlCol="0" anchor="ctr"/>
          <a:lstStyle/>
          <a:p>
            <a:pPr indent="0" marL="0">
              <a:buNone/>
            </a:pPr>
            <a:r>
              <a:rPr lang="en-US" sz="2200" b="1" dirty="0">
                <a:solidFill>
                  <a:schemeClr val="bg1"/>
                </a:solidFill>
              </a:rPr>
              <a:t>Judge it by one question: </a:t>
            </a:r>
            <a:pPr indent="0" marL="0">
              <a:buNone/>
            </a:pPr>
            <a:r>
              <a:rPr lang="en-US" sz="2200" dirty="0">
                <a:solidFill>
                  <a:schemeClr val="accent6"/>
                </a:solidFill>
              </a:rPr>
              <a:t>did we learn about trouble before the review, with a plan attached?</a:t>
            </a:r>
            <a:endParaRPr lang="en-US" sz="2200" dirty="0"/>
          </a:p>
        </p:txBody>
      </p:sp>
    </p:spTree>
  </p:cSld>
  <p:clrMapOvr>
    <a:masterClrMapping/>
  </p:clrMapOvr>
</p:sld>
</file>

<file path=ppt/theme/theme1.xml><?xml version="1.0" encoding="utf-8"?>
<a:theme xmlns:a="http://schemas.openxmlformats.org/drawingml/2006/main" name="Goal Tracker">
  <a:themeElements>
    <a:clrScheme name="Goal Tracker">
      <a:dk1>
        <a:srgbClr val="1A1F1E"/>
      </a:dk1>
      <a:lt1>
        <a:srgbClr val="FFFFFF"/>
      </a:lt1>
      <a:dk2>
        <a:srgbClr val="134E4A"/>
      </a:dk2>
      <a:lt2>
        <a:srgbClr val="EEF4F3"/>
      </a:lt2>
      <a:accent1>
        <a:srgbClr val="0F766E"/>
      </a:accent1>
      <a:accent2>
        <a:srgbClr val="A32020"/>
      </a:accent2>
      <a:accent3>
        <a:srgbClr val="C98A04"/>
      </a:accent3>
      <a:accent4>
        <a:srgbClr val="1F6B45"/>
      </a:accent4>
      <a:accent5>
        <a:srgbClr val="5B6B69"/>
      </a:accent5>
      <a:accent6>
        <a:srgbClr val="CFE3E0"/>
      </a:accent6>
      <a:hlink>
        <a:srgbClr val="0F766E"/>
      </a:hlink>
      <a:folHlink>
        <a:srgbClr val="5B6B69"/>
      </a:folHlink>
    </a:clrScheme>
    <a:fontScheme name="Goal Track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Goal Tracker</dc:title>
  <dc:subject>PptxGenJS Presentation</dc:subject>
  <dc:creator>Zach Thieme</dc:creator>
  <cp:lastModifiedBy>Zach Thieme</cp:lastModifiedBy>
  <cp:revision>1</cp:revision>
  <dcterms:created xsi:type="dcterms:W3CDTF">2026-10-05T04:49:03Z</dcterms:created>
  <dcterms:modified xsi:type="dcterms:W3CDTF">2026-10-05T04:49:03Z</dcterms:modified>
</cp:coreProperties>
</file>