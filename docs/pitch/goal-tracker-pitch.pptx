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a0f5b212-0cc1-522a-c5e3-fbeabf4e4513}">
          <p14:sldIdLst>
            <p14:sldId id="256"/>
            <p14:sldId id="257"/>
            <p14:sldId id="258"/>
            <p14:sldId id="259"/>
            <p14:sldId id="260"/>
          </p14:sldIdLst>
        </p14:section>
        <p14:section name="Product" id="{997d2869-a1f7-d4fb-b5f7-deee5facf5eb}">
          <p14:sldIdLst>
            <p14:sldId id="261"/>
            <p14:sldId id="262"/>
            <p14:sldId id="263"/>
          </p14:sldIdLst>
        </p14:section>
        <p14:section name="Decision" id="{97179615-6b7b-14ff-d7f7-f8954b94ff4d}">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Tracker is one place for the org to state its goals, update them weekly, and produce review-ready reports. The pitch in one line: leaders find trouble without waiting for the review or for someone to tell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ask first so the rest of the deck is heard as evidence for it. Name the org and the start date here once they are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tracking goals in slides lets trouble hide. Replace these with a real incident from our own reviews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objection is 'why not keep the deck we have'. Slides are a fine way to present status and a poor way to track it: a slide can't notice that it is out of date. Check the left column against how our decks are really kept, and reword any row that isn't true of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audiences. Frontline and mid-level managers own goals and check in. VPs and above read. The manager side has to be cheap or the data goes stale; the leader side has to be easy to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a leader opens between reviews: which goals need attention, why, and who has to act. The count sits in the top bar on every page. In the demo org, 10 of 50 goals are flagged, and 4 of those are Green goals nobody has updated in three to six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any flagged goal opens to the owner's latest status and plan, the worst Health among its child goals beside the owner's own call, and the history of how it got here. Right: a Report built by one rule, Team is Growth, and published as it stands. The author writes only the introduction and their own notes. It shares from the tool, as Markdown, or printed to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video: an owner lands on Home, clears a Stale goal with one click on No change, then checks in Yellow on another with a Path to Green. No change is refused when it would be wrong, such as a Green goal with an overdue milestone. This is the price of everything on the previous slides, so it has to stay low. We have not measured it with real managers yet; the pilot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a working prototype. Everything shown in this deck was captured from the running product. The three gaps on the right are what stand between it and real users: sign-in is a development one, emails are written to a log, and it has no production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is the real risk: the tool is only as good as the check-ins. The reminder depends on email being sent, which is one of the gaps on the previous slide. The pilot's first measure tests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is small and time-boxed. Fill in the org, the start date and the sponsor before presenting. The 80% bar is a proposal; agree the bar with the VP. For the third measure, note how long the last PowerPoint status deck took to assemble before the pilot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920240"/>
            <a:ext cx="4846320" cy="137160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640080" y="3429000"/>
            <a:ext cx="4663440" cy="1463040"/>
          </a:xfrm>
          <a:prstGeom prst="rect">
            <a:avLst/>
          </a:prstGeom>
          <a:noFill/>
          <a:ln/>
        </p:spPr>
        <p:txBody>
          <a:bodyPr wrap="square" rtlCol="0"/>
          <a:lstStyle>
            <a:lvl1pPr algn="l" indent="0" marL="0">
              <a:buNone/>
              <a:defRPr lang="en-US" sz="2200" dirty="0">
                <a:solidFill>
                  <a:schemeClr val="accent6"/>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382512"/>
            <a:ext cx="2743200" cy="274320"/>
          </a:xfrm>
          <a:prstGeom prst="rect">
            <a:avLst/>
          </a:prstGeom>
          <a:noFill/>
          <a:ln/>
        </p:spPr>
        <p:txBody>
          <a:bodyPr wrap="square" lIns="0" tIns="0" rIns="0" bIns="0" rtlCol="0" anchor="ctr"/>
          <a:lstStyle/>
          <a:p>
            <a:pPr indent="0" marL="0">
              <a:buNone/>
            </a:pPr>
            <a:r>
              <a:rPr lang="en-US" sz="1000" dirty="0">
                <a:solidFill>
                  <a:schemeClr val="accent5"/>
                </a:solidFill>
              </a:rPr>
              <a:t>Goal Tracker</a:t>
            </a:r>
            <a:endParaRPr lang="en-US" sz="10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109728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video" Target="../media/media-8-1.mp4"/><Relationship Id="rId2" Type="http://schemas.microsoft.com/office/2007/relationships/media" Target="../media/media-8-1.mp4"/><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920240"/>
            <a:ext cx="4846320" cy="1371600"/>
          </a:xfrm>
          <a:prstGeom prst="rect">
            <a:avLst/>
          </a:prstGeom>
          <a:noFill/>
          <a:ln/>
        </p:spPr>
        <p:txBody>
          <a:bodyPr wrap="square" lIns="0" tIns="0" rIns="0" bIns="0" rtlCol="0" anchor="t"/>
          <a:lstStyle/>
          <a:p>
            <a:pPr algn="l" indent="0" marL="0">
              <a:buNone/>
            </a:pPr>
            <a:r>
              <a:rPr lang="en-US" sz="5400" b="1" dirty="0">
                <a:solidFill>
                  <a:schemeClr val="bg1"/>
                </a:solidFill>
              </a:rPr>
              <a:t>Goal Tracker</a:t>
            </a:r>
            <a:endParaRPr lang="en-US" sz="5400" dirty="0"/>
          </a:p>
        </p:txBody>
      </p:sp>
      <p:sp>
        <p:nvSpPr>
          <p:cNvPr id="3" name="Text 0"/>
          <p:cNvSpPr/>
          <p:nvPr>
            <p:ph idx="101" type="body" hasCustomPrompt="1"/>
          </p:nvPr>
        </p:nvSpPr>
        <p:spPr>
          <a:xfrm>
            <a:off x="640080" y="3429000"/>
            <a:ext cx="4663440" cy="1463040"/>
          </a:xfrm>
          <a:prstGeom prst="rect">
            <a:avLst/>
          </a:prstGeom>
          <a:noFill/>
          <a:ln/>
        </p:spPr>
        <p:txBody>
          <a:bodyPr wrap="square" lIns="0" tIns="0" rIns="0" bIns="0" rtlCol="0" anchor="t"/>
          <a:lstStyle/>
          <a:p>
            <a:pPr algn="l" indent="0" marL="0">
              <a:buNone/>
            </a:pPr>
            <a:r>
              <a:rPr lang="en-US" sz="2200" dirty="0">
                <a:solidFill>
                  <a:schemeClr val="accent6"/>
                </a:solidFill>
              </a:rPr>
              <a:t>Find the goals that are in trouble before the review does.</a:t>
            </a:r>
            <a:endParaRPr lang="en-US" sz="2200" dirty="0"/>
          </a:p>
        </p:txBody>
      </p:sp>
      <p:sp>
        <p:nvSpPr>
          <p:cNvPr id="4" name="Green mark"/>
          <p:cNvSpPr/>
          <p:nvPr/>
        </p:nvSpPr>
        <p:spPr>
          <a:xfrm>
            <a:off x="640080" y="1325880"/>
            <a:ext cx="274320" cy="274320"/>
          </a:xfrm>
          <a:prstGeom prst="ellipse">
            <a:avLst/>
          </a:prstGeom>
          <a:solidFill>
            <a:schemeClr val="accent4"/>
          </a:solidFill>
          <a:ln w="12700">
            <a:solidFill>
              <a:schemeClr val="accent4"/>
            </a:solidFill>
            <a:prstDash val="solid"/>
          </a:ln>
        </p:spPr>
      </p:sp>
      <p:sp>
        <p:nvSpPr>
          <p:cNvPr id="5" name="Yellow mark"/>
          <p:cNvSpPr/>
          <p:nvPr/>
        </p:nvSpPr>
        <p:spPr>
          <a:xfrm>
            <a:off x="1051560" y="1325880"/>
            <a:ext cx="274320" cy="274320"/>
          </a:xfrm>
          <a:prstGeom prst="triangle">
            <a:avLst/>
          </a:prstGeom>
          <a:solidFill>
            <a:schemeClr val="accent3"/>
          </a:solidFill>
          <a:ln w="12700">
            <a:solidFill>
              <a:schemeClr val="accent3"/>
            </a:solidFill>
            <a:prstDash val="solid"/>
          </a:ln>
        </p:spPr>
      </p:sp>
      <p:sp>
        <p:nvSpPr>
          <p:cNvPr id="6" name="Red mark"/>
          <p:cNvSpPr/>
          <p:nvPr/>
        </p:nvSpPr>
        <p:spPr>
          <a:xfrm>
            <a:off x="1463040" y="1325880"/>
            <a:ext cx="274320" cy="274320"/>
          </a:xfrm>
          <a:prstGeom prst="rect">
            <a:avLst/>
          </a:prstGeom>
          <a:solidFill>
            <a:schemeClr val="accent2"/>
          </a:solidFill>
          <a:ln w="12700">
            <a:solidFill>
              <a:schemeClr val="accent2"/>
            </a:solidFill>
            <a:prstDash val="solid"/>
          </a:ln>
        </p:spPr>
      </p:sp>
      <p:sp>
        <p:nvSpPr>
          <p:cNvPr id="7" name="Risks page frame"/>
          <p:cNvSpPr/>
          <p:nvPr/>
        </p:nvSpPr>
        <p:spPr>
          <a:xfrm>
            <a:off x="5760720" y="1463040"/>
            <a:ext cx="5879592" cy="3674745"/>
          </a:xfrm>
          <a:prstGeom prst="rect">
            <a:avLst/>
          </a:prstGeom>
          <a:solidFill>
            <a:schemeClr val="bg1"/>
          </a:solidFill>
          <a:ln w="12700">
            <a:solidFill>
              <a:schemeClr val="accent6"/>
            </a:solidFill>
            <a:prstDash val="solid"/>
          </a:ln>
          <a:effectLst>
            <a:outerShdw sx="100000" sy="100000" kx="0" ky="0" algn="bl" rotWithShape="0" blurRad="152400" dist="50800" dir="5400000">
              <a:srgbClr val="134E4A">
                <a:alpha val="18000"/>
              </a:srgbClr>
            </a:outerShdw>
          </a:effectLst>
        </p:spPr>
      </p:sp>
      <p:pic>
        <p:nvPicPr>
          <p:cNvPr id="8" name="Risks page" descr="The Risks page: ten goals need attention, four of them Stale">    </p:cNvPr>
          <p:cNvPicPr>
            <a:picLocks noChangeAspect="1"/>
          </p:cNvPicPr>
          <p:nvPr/>
        </p:nvPicPr>
        <p:blipFill>
          <a:blip r:embed="rId1"/>
          <a:stretch>
            <a:fillRect/>
          </a:stretch>
        </p:blipFill>
        <p:spPr>
          <a:xfrm>
            <a:off x="5760720" y="1463040"/>
            <a:ext cx="5879592" cy="367474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The ask: replace one status deck for one cycle</a:t>
            </a:r>
            <a:endParaRPr lang="en-US" sz="3600" dirty="0"/>
          </a:p>
        </p:txBody>
      </p:sp>
      <p:sp>
        <p:nvSpPr>
          <p:cNvPr id="3" name="Ask 1 card"/>
          <p:cNvSpPr/>
          <p:nvPr/>
        </p:nvSpPr>
        <p:spPr>
          <a:xfrm>
            <a:off x="548640" y="1737360"/>
            <a:ext cx="3456432" cy="2651760"/>
          </a:xfrm>
          <a:prstGeom prst="roundRect">
            <a:avLst>
              <a:gd name="adj" fmla="val 2759"/>
            </a:avLst>
          </a:prstGeom>
          <a:solidFill>
            <a:schemeClr val="bg2"/>
          </a:solidFill>
          <a:ln w="12700">
            <a:solidFill>
              <a:schemeClr val="bg2"/>
            </a:solidFill>
            <a:prstDash val="solid"/>
          </a:ln>
        </p:spPr>
      </p:sp>
      <p:sp>
        <p:nvSpPr>
          <p:cNvPr id="4" name="Ask 1 heading"/>
          <p:cNvSpPr txBox="1"/>
          <p:nvPr/>
        </p:nvSpPr>
        <p:spPr>
          <a:xfrm>
            <a:off x="868680" y="2057400"/>
            <a:ext cx="2834640" cy="731520"/>
          </a:xfrm>
          <a:prstGeom prst="rect">
            <a:avLst/>
          </a:prstGeom>
          <a:noFill/>
          <a:ln/>
        </p:spPr>
        <p:txBody>
          <a:bodyPr wrap="square" lIns="0" tIns="0" rIns="0" bIns="0" rtlCol="0" anchor="t"/>
          <a:lstStyle/>
          <a:p>
            <a:pPr indent="0" marL="0">
              <a:buNone/>
            </a:pPr>
            <a:r>
              <a:rPr lang="en-US" sz="3000" b="1" dirty="0">
                <a:solidFill>
                  <a:schemeClr val="accent1"/>
                </a:solidFill>
              </a:rPr>
              <a:t>One org</a:t>
            </a:r>
            <a:endParaRPr lang="en-US" sz="3000" dirty="0"/>
          </a:p>
        </p:txBody>
      </p:sp>
      <p:sp>
        <p:nvSpPr>
          <p:cNvPr id="5" name="Ask 1 text"/>
          <p:cNvSpPr txBox="1"/>
          <p:nvPr/>
        </p:nvSpPr>
        <p:spPr>
          <a:xfrm>
            <a:off x="868680" y="2880360"/>
            <a:ext cx="2834640" cy="1280160"/>
          </a:xfrm>
          <a:prstGeom prst="rect">
            <a:avLst/>
          </a:prstGeom>
          <a:noFill/>
          <a:ln/>
        </p:spPr>
        <p:txBody>
          <a:bodyPr wrap="square" lIns="0" tIns="0" rIns="0" bIns="0" rtlCol="0" anchor="t"/>
          <a:lstStyle/>
          <a:p>
            <a:pPr indent="0" marL="0">
              <a:buNone/>
            </a:pPr>
            <a:r>
              <a:rPr lang="en-US" sz="1600" dirty="0">
                <a:solidFill>
                  <a:schemeClr val="tx1"/>
                </a:solidFill>
              </a:rPr>
              <a:t>Its goals move out of the PowerPoint status deck and into Goal Tracker.</a:t>
            </a:r>
            <a:endParaRPr lang="en-US" sz="1600" dirty="0"/>
          </a:p>
        </p:txBody>
      </p:sp>
      <p:sp>
        <p:nvSpPr>
          <p:cNvPr id="6" name="Ask 2 card"/>
          <p:cNvSpPr/>
          <p:nvPr/>
        </p:nvSpPr>
        <p:spPr>
          <a:xfrm>
            <a:off x="4370832" y="1737360"/>
            <a:ext cx="3456432" cy="2651760"/>
          </a:xfrm>
          <a:prstGeom prst="roundRect">
            <a:avLst>
              <a:gd name="adj" fmla="val 2759"/>
            </a:avLst>
          </a:prstGeom>
          <a:solidFill>
            <a:schemeClr val="bg2"/>
          </a:solidFill>
          <a:ln w="12700">
            <a:solidFill>
              <a:schemeClr val="bg2"/>
            </a:solidFill>
            <a:prstDash val="solid"/>
          </a:ln>
        </p:spPr>
      </p:sp>
      <p:sp>
        <p:nvSpPr>
          <p:cNvPr id="7" name="Ask 2 heading"/>
          <p:cNvSpPr txBox="1"/>
          <p:nvPr/>
        </p:nvSpPr>
        <p:spPr>
          <a:xfrm>
            <a:off x="4690872" y="2057400"/>
            <a:ext cx="2834640" cy="731520"/>
          </a:xfrm>
          <a:prstGeom prst="rect">
            <a:avLst/>
          </a:prstGeom>
          <a:noFill/>
          <a:ln/>
        </p:spPr>
        <p:txBody>
          <a:bodyPr wrap="square" lIns="0" tIns="0" rIns="0" bIns="0" rtlCol="0" anchor="t"/>
          <a:lstStyle/>
          <a:p>
            <a:pPr indent="0" marL="0">
              <a:buNone/>
            </a:pPr>
            <a:r>
              <a:rPr lang="en-US" sz="3000" b="1" dirty="0">
                <a:solidFill>
                  <a:schemeClr val="accent1"/>
                </a:solidFill>
              </a:rPr>
              <a:t>One cycle</a:t>
            </a:r>
            <a:endParaRPr lang="en-US" sz="3000" dirty="0"/>
          </a:p>
        </p:txBody>
      </p:sp>
      <p:sp>
        <p:nvSpPr>
          <p:cNvPr id="8" name="Ask 2 text"/>
          <p:cNvSpPr txBox="1"/>
          <p:nvPr/>
        </p:nvSpPr>
        <p:spPr>
          <a:xfrm>
            <a:off x="4690872" y="2880360"/>
            <a:ext cx="2834640" cy="1280160"/>
          </a:xfrm>
          <a:prstGeom prst="rect">
            <a:avLst/>
          </a:prstGeom>
          <a:noFill/>
          <a:ln/>
        </p:spPr>
        <p:txBody>
          <a:bodyPr wrap="square" lIns="0" tIns="0" rIns="0" bIns="0" rtlCol="0" anchor="t"/>
          <a:lstStyle/>
          <a:p>
            <a:pPr indent="0" marL="0">
              <a:buNone/>
            </a:pPr>
            <a:r>
              <a:rPr lang="en-US" sz="1600" dirty="0">
                <a:solidFill>
                  <a:schemeClr val="tx1"/>
                </a:solidFill>
              </a:rPr>
              <a:t>Owners check in weekly. The review runs from a published Report.</a:t>
            </a:r>
            <a:endParaRPr lang="en-US" sz="1600" dirty="0"/>
          </a:p>
        </p:txBody>
      </p:sp>
      <p:sp>
        <p:nvSpPr>
          <p:cNvPr id="9" name="Ask 3 card"/>
          <p:cNvSpPr/>
          <p:nvPr/>
        </p:nvSpPr>
        <p:spPr>
          <a:xfrm>
            <a:off x="8193024" y="1737360"/>
            <a:ext cx="3456432" cy="2651760"/>
          </a:xfrm>
          <a:prstGeom prst="roundRect">
            <a:avLst>
              <a:gd name="adj" fmla="val 2759"/>
            </a:avLst>
          </a:prstGeom>
          <a:solidFill>
            <a:schemeClr val="bg2"/>
          </a:solidFill>
          <a:ln w="12700">
            <a:solidFill>
              <a:schemeClr val="bg2"/>
            </a:solidFill>
            <a:prstDash val="solid"/>
          </a:ln>
        </p:spPr>
      </p:sp>
      <p:sp>
        <p:nvSpPr>
          <p:cNvPr id="10" name="Ask 3 heading"/>
          <p:cNvSpPr txBox="1"/>
          <p:nvPr/>
        </p:nvSpPr>
        <p:spPr>
          <a:xfrm>
            <a:off x="8513064" y="2057400"/>
            <a:ext cx="2834640" cy="731520"/>
          </a:xfrm>
          <a:prstGeom prst="rect">
            <a:avLst/>
          </a:prstGeom>
          <a:noFill/>
          <a:ln/>
        </p:spPr>
        <p:txBody>
          <a:bodyPr wrap="square" lIns="0" tIns="0" rIns="0" bIns="0" rtlCol="0" anchor="t"/>
          <a:lstStyle/>
          <a:p>
            <a:pPr indent="0" marL="0">
              <a:buNone/>
            </a:pPr>
            <a:r>
              <a:rPr lang="en-US" sz="3000" b="1" dirty="0">
                <a:solidFill>
                  <a:schemeClr val="accent1"/>
                </a:solidFill>
              </a:rPr>
              <a:t>One decision</a:t>
            </a:r>
            <a:endParaRPr lang="en-US" sz="3000" dirty="0"/>
          </a:p>
        </p:txBody>
      </p:sp>
      <p:sp>
        <p:nvSpPr>
          <p:cNvPr id="11" name="Ask 3 text"/>
          <p:cNvSpPr txBox="1"/>
          <p:nvPr/>
        </p:nvSpPr>
        <p:spPr>
          <a:xfrm>
            <a:off x="8513064" y="2880360"/>
            <a:ext cx="2834640" cy="1280160"/>
          </a:xfrm>
          <a:prstGeom prst="rect">
            <a:avLst/>
          </a:prstGeom>
          <a:noFill/>
          <a:ln/>
        </p:spPr>
        <p:txBody>
          <a:bodyPr wrap="square" lIns="0" tIns="0" rIns="0" bIns="0" rtlCol="0" anchor="t"/>
          <a:lstStyle/>
          <a:p>
            <a:pPr indent="0" marL="0">
              <a:buNone/>
            </a:pPr>
            <a:r>
              <a:rPr lang="en-US" sz="1600" dirty="0">
                <a:solidFill>
                  <a:schemeClr val="tx1"/>
                </a:solidFill>
              </a:rPr>
              <a:t>At the end we expand it, extend the pilot, or stop.</a:t>
            </a:r>
            <a:endParaRPr lang="en-US" sz="1600" dirty="0"/>
          </a:p>
        </p:txBody>
      </p:sp>
      <p:sp>
        <p:nvSpPr>
          <p:cNvPr id="12" name="Roadmap"/>
          <p:cNvSpPr txBox="1"/>
          <p:nvPr/>
        </p:nvSpPr>
        <p:spPr>
          <a:xfrm>
            <a:off x="548640" y="4846320"/>
            <a:ext cx="11064240" cy="731520"/>
          </a:xfrm>
          <a:prstGeom prst="rect">
            <a:avLst/>
          </a:prstGeom>
          <a:noFill/>
          <a:ln/>
        </p:spPr>
        <p:txBody>
          <a:bodyPr wrap="square" lIns="0" tIns="0" rIns="0" bIns="0" rtlCol="0" anchor="t"/>
          <a:lstStyle/>
          <a:p>
            <a:pPr indent="0" marL="0">
              <a:buNone/>
            </a:pPr>
            <a:r>
              <a:rPr lang="en-US" sz="1600" i="1" dirty="0">
                <a:solidFill>
                  <a:schemeClr val="tx2"/>
                </a:solidFill>
              </a:rPr>
              <a:t>The rest of this deck: why the status deck falls short, what the product does, what is ready, and how we would judge the pilot.</a:t>
            </a:r>
            <a:endParaRPr lang="en-US" sz="16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Trouble surfaces at the review, or after it</a:t>
            </a:r>
            <a:endParaRPr lang="en-US" sz="3600" dirty="0"/>
          </a:p>
        </p:txBody>
      </p:sp>
      <p:sp>
        <p:nvSpPr>
          <p:cNvPr id="3" name="Problem 1 card"/>
          <p:cNvSpPr/>
          <p:nvPr/>
        </p:nvSpPr>
        <p:spPr>
          <a:xfrm>
            <a:off x="548640" y="1737360"/>
            <a:ext cx="3456432" cy="3566160"/>
          </a:xfrm>
          <a:prstGeom prst="roundRect">
            <a:avLst>
              <a:gd name="adj" fmla="val 2116"/>
            </a:avLst>
          </a:prstGeom>
          <a:solidFill>
            <a:schemeClr val="bg2"/>
          </a:solidFill>
          <a:ln w="12700">
            <a:solidFill>
              <a:schemeClr val="bg2"/>
            </a:solidFill>
            <a:prstDash val="solid"/>
          </a:ln>
        </p:spPr>
      </p:sp>
      <p:sp>
        <p:nvSpPr>
          <p:cNvPr id="4" name="Problem 1 mark"/>
          <p:cNvSpPr/>
          <p:nvPr/>
        </p:nvSpPr>
        <p:spPr>
          <a:xfrm>
            <a:off x="868680" y="2103120"/>
            <a:ext cx="384048" cy="384048"/>
          </a:xfrm>
          <a:prstGeom prst="rect">
            <a:avLst/>
          </a:prstGeom>
          <a:solidFill>
            <a:schemeClr val="accent5"/>
          </a:solidFill>
          <a:ln w="12700">
            <a:solidFill>
              <a:schemeClr val="accent5"/>
            </a:solidFill>
            <a:prstDash val="solid"/>
          </a:ln>
        </p:spPr>
      </p:sp>
      <p:sp>
        <p:nvSpPr>
          <p:cNvPr id="5" name="Problem 1 heading"/>
          <p:cNvSpPr txBox="1"/>
          <p:nvPr/>
        </p:nvSpPr>
        <p:spPr>
          <a:xfrm>
            <a:off x="868680" y="2788920"/>
            <a:ext cx="2834640" cy="731520"/>
          </a:xfrm>
          <a:prstGeom prst="rect">
            <a:avLst/>
          </a:prstGeom>
          <a:noFill/>
          <a:ln/>
        </p:spPr>
        <p:txBody>
          <a:bodyPr wrap="square" lIns="0" tIns="0" rIns="0" bIns="0" rtlCol="0" anchor="t"/>
          <a:lstStyle/>
          <a:p>
            <a:pPr indent="0" marL="0">
              <a:buNone/>
            </a:pPr>
            <a:r>
              <a:rPr lang="en-US" sz="2200" b="1" dirty="0">
                <a:solidFill>
                  <a:schemeClr val="tx1"/>
                </a:solidFill>
              </a:rPr>
              <a:t>Silence looks like Green</a:t>
            </a:r>
            <a:endParaRPr lang="en-US" sz="2200" dirty="0"/>
          </a:p>
        </p:txBody>
      </p:sp>
      <p:sp>
        <p:nvSpPr>
          <p:cNvPr id="6" name="Problem 1 text"/>
          <p:cNvSpPr txBox="1"/>
          <p:nvPr/>
        </p:nvSpPr>
        <p:spPr>
          <a:xfrm>
            <a:off x="868680" y="3611880"/>
            <a:ext cx="2834640" cy="1463040"/>
          </a:xfrm>
          <a:prstGeom prst="rect">
            <a:avLst/>
          </a:prstGeom>
          <a:noFill/>
          <a:ln/>
        </p:spPr>
        <p:txBody>
          <a:bodyPr wrap="square" lIns="0" tIns="0" rIns="0" bIns="0" rtlCol="0" anchor="t"/>
          <a:lstStyle/>
          <a:p>
            <a:pPr indent="0" marL="0">
              <a:buNone/>
            </a:pPr>
            <a:r>
              <a:rPr lang="en-US" sz="1500" dirty="0">
                <a:solidFill>
                  <a:schemeClr val="accent5"/>
                </a:solidFill>
              </a:rPr>
              <a:t>A goal nobody has updated keeps the colour it had last time. Nothing flags it.</a:t>
            </a:r>
            <a:endParaRPr lang="en-US" sz="1500" dirty="0"/>
          </a:p>
        </p:txBody>
      </p:sp>
      <p:sp>
        <p:nvSpPr>
          <p:cNvPr id="7" name="Problem 2 card"/>
          <p:cNvSpPr/>
          <p:nvPr/>
        </p:nvSpPr>
        <p:spPr>
          <a:xfrm>
            <a:off x="4370832" y="1737360"/>
            <a:ext cx="3456432" cy="3566160"/>
          </a:xfrm>
          <a:prstGeom prst="roundRect">
            <a:avLst>
              <a:gd name="adj" fmla="val 2116"/>
            </a:avLst>
          </a:prstGeom>
          <a:solidFill>
            <a:schemeClr val="bg2"/>
          </a:solidFill>
          <a:ln w="12700">
            <a:solidFill>
              <a:schemeClr val="bg2"/>
            </a:solidFill>
            <a:prstDash val="solid"/>
          </a:ln>
        </p:spPr>
      </p:sp>
      <p:sp>
        <p:nvSpPr>
          <p:cNvPr id="8" name="Problem 2 mark"/>
          <p:cNvSpPr/>
          <p:nvPr/>
        </p:nvSpPr>
        <p:spPr>
          <a:xfrm>
            <a:off x="4690872" y="2103120"/>
            <a:ext cx="384048" cy="384048"/>
          </a:xfrm>
          <a:prstGeom prst="triangle">
            <a:avLst/>
          </a:prstGeom>
          <a:solidFill>
            <a:schemeClr val="accent3"/>
          </a:solidFill>
          <a:ln w="12700">
            <a:solidFill>
              <a:schemeClr val="accent3"/>
            </a:solidFill>
            <a:prstDash val="solid"/>
          </a:ln>
        </p:spPr>
      </p:sp>
      <p:sp>
        <p:nvSpPr>
          <p:cNvPr id="9" name="Problem 2 heading"/>
          <p:cNvSpPr txBox="1"/>
          <p:nvPr/>
        </p:nvSpPr>
        <p:spPr>
          <a:xfrm>
            <a:off x="4690872" y="2788920"/>
            <a:ext cx="2834640" cy="731520"/>
          </a:xfrm>
          <a:prstGeom prst="rect">
            <a:avLst/>
          </a:prstGeom>
          <a:noFill/>
          <a:ln/>
        </p:spPr>
        <p:txBody>
          <a:bodyPr wrap="square" lIns="0" tIns="0" rIns="0" bIns="0" rtlCol="0" anchor="t"/>
          <a:lstStyle/>
          <a:p>
            <a:pPr indent="0" marL="0">
              <a:buNone/>
            </a:pPr>
            <a:r>
              <a:rPr lang="en-US" sz="2200" b="1" dirty="0">
                <a:solidFill>
                  <a:schemeClr val="tx1"/>
                </a:solidFill>
              </a:rPr>
              <a:t>The deck is rebuilt by hand</a:t>
            </a:r>
            <a:endParaRPr lang="en-US" sz="2200" dirty="0"/>
          </a:p>
        </p:txBody>
      </p:sp>
      <p:sp>
        <p:nvSpPr>
          <p:cNvPr id="10" name="Problem 2 text"/>
          <p:cNvSpPr txBox="1"/>
          <p:nvPr/>
        </p:nvSpPr>
        <p:spPr>
          <a:xfrm>
            <a:off x="4690872" y="3611880"/>
            <a:ext cx="2834640" cy="1463040"/>
          </a:xfrm>
          <a:prstGeom prst="rect">
            <a:avLst/>
          </a:prstGeom>
          <a:noFill/>
          <a:ln/>
        </p:spPr>
        <p:txBody>
          <a:bodyPr wrap="square" lIns="0" tIns="0" rIns="0" bIns="0" rtlCol="0" anchor="t"/>
          <a:lstStyle/>
          <a:p>
            <a:pPr indent="0" marL="0">
              <a:buNone/>
            </a:pPr>
            <a:r>
              <a:rPr lang="en-US" sz="1500" dirty="0">
                <a:solidFill>
                  <a:schemeClr val="accent5"/>
                </a:solidFill>
              </a:rPr>
              <a:t>Each review, status is collected and retyped into slides. The work goes into assembling, not reading.</a:t>
            </a:r>
            <a:endParaRPr lang="en-US" sz="1500" dirty="0"/>
          </a:p>
        </p:txBody>
      </p:sp>
      <p:sp>
        <p:nvSpPr>
          <p:cNvPr id="11" name="Problem 3 card"/>
          <p:cNvSpPr/>
          <p:nvPr/>
        </p:nvSpPr>
        <p:spPr>
          <a:xfrm>
            <a:off x="8193024" y="1737360"/>
            <a:ext cx="3456432" cy="3566160"/>
          </a:xfrm>
          <a:prstGeom prst="roundRect">
            <a:avLst>
              <a:gd name="adj" fmla="val 2116"/>
            </a:avLst>
          </a:prstGeom>
          <a:solidFill>
            <a:schemeClr val="bg2"/>
          </a:solidFill>
          <a:ln w="12700">
            <a:solidFill>
              <a:schemeClr val="bg2"/>
            </a:solidFill>
            <a:prstDash val="solid"/>
          </a:ln>
        </p:spPr>
      </p:sp>
      <p:sp>
        <p:nvSpPr>
          <p:cNvPr id="12" name="Problem 3 mark"/>
          <p:cNvSpPr/>
          <p:nvPr/>
        </p:nvSpPr>
        <p:spPr>
          <a:xfrm>
            <a:off x="8513064" y="2103120"/>
            <a:ext cx="384048" cy="384048"/>
          </a:xfrm>
          <a:prstGeom prst="rect">
            <a:avLst/>
          </a:prstGeom>
          <a:solidFill>
            <a:schemeClr val="accent2"/>
          </a:solidFill>
          <a:ln w="12700">
            <a:solidFill>
              <a:schemeClr val="accent2"/>
            </a:solidFill>
            <a:prstDash val="solid"/>
          </a:ln>
        </p:spPr>
      </p:sp>
      <p:sp>
        <p:nvSpPr>
          <p:cNvPr id="13" name="Problem 3 heading"/>
          <p:cNvSpPr txBox="1"/>
          <p:nvPr/>
        </p:nvSpPr>
        <p:spPr>
          <a:xfrm>
            <a:off x="8513064" y="2788920"/>
            <a:ext cx="2834640" cy="731520"/>
          </a:xfrm>
          <a:prstGeom prst="rect">
            <a:avLst/>
          </a:prstGeom>
          <a:noFill/>
          <a:ln/>
        </p:spPr>
        <p:txBody>
          <a:bodyPr wrap="square" lIns="0" tIns="0" rIns="0" bIns="0" rtlCol="0" anchor="t"/>
          <a:lstStyle/>
          <a:p>
            <a:pPr indent="0" marL="0">
              <a:buNone/>
            </a:pPr>
            <a:r>
              <a:rPr lang="en-US" sz="2200" b="1" dirty="0">
                <a:solidFill>
                  <a:schemeClr val="tx1"/>
                </a:solidFill>
              </a:rPr>
              <a:t>Bad news arrives without a plan</a:t>
            </a:r>
            <a:endParaRPr lang="en-US" sz="2200" dirty="0"/>
          </a:p>
        </p:txBody>
      </p:sp>
      <p:sp>
        <p:nvSpPr>
          <p:cNvPr id="14" name="Problem 3 text"/>
          <p:cNvSpPr txBox="1"/>
          <p:nvPr/>
        </p:nvSpPr>
        <p:spPr>
          <a:xfrm>
            <a:off x="8513064" y="3611880"/>
            <a:ext cx="2834640" cy="1463040"/>
          </a:xfrm>
          <a:prstGeom prst="rect">
            <a:avLst/>
          </a:prstGeom>
          <a:noFill/>
          <a:ln/>
        </p:spPr>
        <p:txBody>
          <a:bodyPr wrap="square" lIns="0" tIns="0" rIns="0" bIns="0" rtlCol="0" anchor="t"/>
          <a:lstStyle/>
          <a:p>
            <a:pPr indent="0" marL="0">
              <a:buNone/>
            </a:pPr>
            <a:r>
              <a:rPr lang="en-US" sz="1500" dirty="0">
                <a:solidFill>
                  <a:schemeClr val="accent5"/>
                </a:solidFill>
              </a:rPr>
              <a:t>A Red status says something is wrong. It rarely says what the owner will do, or by when.</a:t>
            </a:r>
            <a:endParaRPr lang="en-US" sz="1500" dirty="0"/>
          </a:p>
        </p:txBody>
      </p:sp>
      <p:sp>
        <p:nvSpPr>
          <p:cNvPr id="15" name="Takeaway"/>
          <p:cNvSpPr txBox="1"/>
          <p:nvPr/>
        </p:nvSpPr>
        <p:spPr>
          <a:xfrm>
            <a:off x="548640" y="5532120"/>
            <a:ext cx="11064240" cy="457200"/>
          </a:xfrm>
          <a:prstGeom prst="rect">
            <a:avLst/>
          </a:prstGeom>
          <a:noFill/>
          <a:ln/>
        </p:spPr>
        <p:txBody>
          <a:bodyPr wrap="square" lIns="0" tIns="0" rIns="0" bIns="0" rtlCol="0" anchor="ctr"/>
          <a:lstStyle/>
          <a:p>
            <a:pPr indent="0" marL="0">
              <a:buNone/>
            </a:pPr>
            <a:r>
              <a:rPr lang="en-US" sz="1600" i="1" dirty="0">
                <a:solidFill>
                  <a:schemeClr val="tx2"/>
                </a:solidFill>
              </a:rPr>
              <a:t>Goal Tracker is built around one question: does this make trouble easier to find, or harder to hide?</a:t>
            </a:r>
            <a:endParaRPr lang="en-US" sz="16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What PowerPoint can't do for us</a:t>
            </a:r>
            <a:endParaRPr lang="en-US" sz="3600" dirty="0"/>
          </a:p>
        </p:txBody>
      </p:sp>
      <p:sp>
        <p:nvSpPr>
          <p:cNvPr id="3" name="Today heading"/>
          <p:cNvSpPr txBox="1"/>
          <p:nvPr/>
        </p:nvSpPr>
        <p:spPr>
          <a:xfrm>
            <a:off x="3063240" y="1463040"/>
            <a:ext cx="4114800" cy="457200"/>
          </a:xfrm>
          <a:prstGeom prst="rect">
            <a:avLst/>
          </a:prstGeom>
          <a:noFill/>
          <a:ln/>
        </p:spPr>
        <p:txBody>
          <a:bodyPr wrap="square" lIns="0" tIns="0" rIns="0" bIns="0" rtlCol="0" anchor="ctr"/>
          <a:lstStyle/>
          <a:p>
            <a:pPr indent="0" marL="0">
              <a:buNone/>
            </a:pPr>
            <a:r>
              <a:rPr lang="en-US" sz="1600" b="1" dirty="0">
                <a:solidFill>
                  <a:schemeClr val="accent5"/>
                </a:solidFill>
              </a:rPr>
              <a:t>PowerPoint status deck</a:t>
            </a:r>
            <a:endParaRPr lang="en-US" sz="1600" dirty="0"/>
          </a:p>
        </p:txBody>
      </p:sp>
      <p:sp>
        <p:nvSpPr>
          <p:cNvPr id="4" name="Goal Tracker heading"/>
          <p:cNvSpPr txBox="1"/>
          <p:nvPr/>
        </p:nvSpPr>
        <p:spPr>
          <a:xfrm>
            <a:off x="7360920" y="1463040"/>
            <a:ext cx="4279392" cy="457200"/>
          </a:xfrm>
          <a:prstGeom prst="rect">
            <a:avLst/>
          </a:prstGeom>
          <a:noFill/>
          <a:ln/>
        </p:spPr>
        <p:txBody>
          <a:bodyPr wrap="square" lIns="0" tIns="0" rIns="0" bIns="0" rtlCol="0" anchor="ctr"/>
          <a:lstStyle/>
          <a:p>
            <a:pPr indent="0" marL="0">
              <a:buNone/>
            </a:pPr>
            <a:r>
              <a:rPr lang="en-US" sz="1600" b="1" dirty="0">
                <a:solidFill>
                  <a:schemeClr val="accent1"/>
                </a:solidFill>
              </a:rPr>
              <a:t>Goal Tracker</a:t>
            </a:r>
            <a:endParaRPr lang="en-US" sz="1600" dirty="0"/>
          </a:p>
        </p:txBody>
      </p:sp>
      <p:sp>
        <p:nvSpPr>
          <p:cNvPr id="5" name="Row 1 label"/>
          <p:cNvSpPr txBox="1"/>
          <p:nvPr/>
        </p:nvSpPr>
        <p:spPr>
          <a:xfrm>
            <a:off x="548640" y="2011680"/>
            <a:ext cx="2331720" cy="850392"/>
          </a:xfrm>
          <a:prstGeom prst="rect">
            <a:avLst/>
          </a:prstGeom>
          <a:noFill/>
          <a:ln/>
        </p:spPr>
        <p:txBody>
          <a:bodyPr wrap="square" lIns="0" tIns="0" rIns="0" bIns="0" rtlCol="0" anchor="ctr"/>
          <a:lstStyle/>
          <a:p>
            <a:pPr indent="0" marL="0">
              <a:buNone/>
            </a:pPr>
            <a:r>
              <a:rPr lang="en-US" sz="1600" b="1" dirty="0">
                <a:solidFill>
                  <a:schemeClr val="tx1"/>
                </a:solidFill>
              </a:rPr>
              <a:t>A goal nobody updated</a:t>
            </a:r>
            <a:endParaRPr lang="en-US" sz="1600" dirty="0"/>
          </a:p>
        </p:txBody>
      </p:sp>
      <p:sp>
        <p:nvSpPr>
          <p:cNvPr id="6" name="Row 1 today card"/>
          <p:cNvSpPr/>
          <p:nvPr/>
        </p:nvSpPr>
        <p:spPr>
          <a:xfrm>
            <a:off x="3063240" y="2011680"/>
            <a:ext cx="4114800" cy="850392"/>
          </a:xfrm>
          <a:prstGeom prst="roundRect">
            <a:avLst>
              <a:gd name="adj" fmla="val 6452"/>
            </a:avLst>
          </a:prstGeom>
          <a:solidFill>
            <a:schemeClr val="bg2"/>
          </a:solidFill>
          <a:ln w="12700">
            <a:solidFill>
              <a:schemeClr val="bg2"/>
            </a:solidFill>
            <a:prstDash val="solid"/>
          </a:ln>
        </p:spPr>
      </p:sp>
      <p:sp>
        <p:nvSpPr>
          <p:cNvPr id="7" name="Row 1 today"/>
          <p:cNvSpPr txBox="1"/>
          <p:nvPr/>
        </p:nvSpPr>
        <p:spPr>
          <a:xfrm>
            <a:off x="3291840" y="2011680"/>
            <a:ext cx="3657600" cy="850392"/>
          </a:xfrm>
          <a:prstGeom prst="rect">
            <a:avLst/>
          </a:prstGeom>
          <a:noFill/>
          <a:ln/>
        </p:spPr>
        <p:txBody>
          <a:bodyPr wrap="square" lIns="0" tIns="0" rIns="0" bIns="0" rtlCol="0" anchor="ctr"/>
          <a:lstStyle/>
          <a:p>
            <a:pPr indent="0" marL="0">
              <a:buNone/>
            </a:pPr>
            <a:r>
              <a:rPr lang="en-US" sz="1500" dirty="0">
                <a:solidFill>
                  <a:schemeClr val="accent5"/>
                </a:solidFill>
              </a:rPr>
              <a:t>Keeps its last colour. Nobody is told.</a:t>
            </a:r>
            <a:endParaRPr lang="en-US" sz="1500" dirty="0"/>
          </a:p>
        </p:txBody>
      </p:sp>
      <p:sp>
        <p:nvSpPr>
          <p:cNvPr id="8" name="Row 1 Goal Tracker card"/>
          <p:cNvSpPr/>
          <p:nvPr/>
        </p:nvSpPr>
        <p:spPr>
          <a:xfrm>
            <a:off x="7360920" y="2011680"/>
            <a:ext cx="4279392" cy="850392"/>
          </a:xfrm>
          <a:prstGeom prst="roundRect">
            <a:avLst>
              <a:gd name="adj" fmla="val 6452"/>
            </a:avLst>
          </a:prstGeom>
          <a:solidFill>
            <a:schemeClr val="accent1"/>
          </a:solidFill>
          <a:ln w="12700">
            <a:solidFill>
              <a:schemeClr val="accent1"/>
            </a:solidFill>
            <a:prstDash val="solid"/>
          </a:ln>
        </p:spPr>
      </p:sp>
      <p:sp>
        <p:nvSpPr>
          <p:cNvPr id="9" name="Row 1 Goal Tracker"/>
          <p:cNvSpPr txBox="1"/>
          <p:nvPr/>
        </p:nvSpPr>
        <p:spPr>
          <a:xfrm>
            <a:off x="7589520" y="2011680"/>
            <a:ext cx="3822192" cy="850392"/>
          </a:xfrm>
          <a:prstGeom prst="rect">
            <a:avLst/>
          </a:prstGeom>
          <a:noFill/>
          <a:ln/>
        </p:spPr>
        <p:txBody>
          <a:bodyPr wrap="square" lIns="0" tIns="0" rIns="0" bIns="0" rtlCol="0" anchor="ctr"/>
          <a:lstStyle/>
          <a:p>
            <a:pPr indent="0" marL="0">
              <a:buNone/>
            </a:pPr>
            <a:r>
              <a:rPr lang="en-US" sz="1500" b="1" dirty="0">
                <a:solidFill>
                  <a:schemeClr val="bg1"/>
                </a:solidFill>
              </a:rPr>
              <a:t>Flagged Stale, as prominently as Red.</a:t>
            </a:r>
            <a:endParaRPr lang="en-US" sz="1500" dirty="0"/>
          </a:p>
        </p:txBody>
      </p:sp>
      <p:sp>
        <p:nvSpPr>
          <p:cNvPr id="10" name="Row 2 label"/>
          <p:cNvSpPr txBox="1"/>
          <p:nvPr/>
        </p:nvSpPr>
        <p:spPr>
          <a:xfrm>
            <a:off x="548640" y="2999232"/>
            <a:ext cx="2331720" cy="850392"/>
          </a:xfrm>
          <a:prstGeom prst="rect">
            <a:avLst/>
          </a:prstGeom>
          <a:noFill/>
          <a:ln/>
        </p:spPr>
        <p:txBody>
          <a:bodyPr wrap="square" lIns="0" tIns="0" rIns="0" bIns="0" rtlCol="0" anchor="ctr"/>
          <a:lstStyle/>
          <a:p>
            <a:pPr indent="0" marL="0">
              <a:buNone/>
            </a:pPr>
            <a:r>
              <a:rPr lang="en-US" sz="1600" b="1" dirty="0">
                <a:solidFill>
                  <a:schemeClr val="tx1"/>
                </a:solidFill>
              </a:rPr>
              <a:t>Bad news</a:t>
            </a:r>
            <a:endParaRPr lang="en-US" sz="1600" dirty="0"/>
          </a:p>
        </p:txBody>
      </p:sp>
      <p:sp>
        <p:nvSpPr>
          <p:cNvPr id="11" name="Row 2 today card"/>
          <p:cNvSpPr/>
          <p:nvPr/>
        </p:nvSpPr>
        <p:spPr>
          <a:xfrm>
            <a:off x="3063240" y="2999232"/>
            <a:ext cx="4114800" cy="850392"/>
          </a:xfrm>
          <a:prstGeom prst="roundRect">
            <a:avLst>
              <a:gd name="adj" fmla="val 6452"/>
            </a:avLst>
          </a:prstGeom>
          <a:solidFill>
            <a:schemeClr val="bg2"/>
          </a:solidFill>
          <a:ln w="12700">
            <a:solidFill>
              <a:schemeClr val="bg2"/>
            </a:solidFill>
            <a:prstDash val="solid"/>
          </a:ln>
        </p:spPr>
      </p:sp>
      <p:sp>
        <p:nvSpPr>
          <p:cNvPr id="12" name="Row 2 today"/>
          <p:cNvSpPr txBox="1"/>
          <p:nvPr/>
        </p:nvSpPr>
        <p:spPr>
          <a:xfrm>
            <a:off x="3291840" y="2999232"/>
            <a:ext cx="3657600" cy="850392"/>
          </a:xfrm>
          <a:prstGeom prst="rect">
            <a:avLst/>
          </a:prstGeom>
          <a:noFill/>
          <a:ln/>
        </p:spPr>
        <p:txBody>
          <a:bodyPr wrap="square" lIns="0" tIns="0" rIns="0" bIns="0" rtlCol="0" anchor="ctr"/>
          <a:lstStyle/>
          <a:p>
            <a:pPr indent="0" marL="0">
              <a:buNone/>
            </a:pPr>
            <a:r>
              <a:rPr lang="en-US" sz="1500" dirty="0">
                <a:solidFill>
                  <a:schemeClr val="accent5"/>
                </a:solidFill>
              </a:rPr>
              <a:t>A red box. A plan is optional.</a:t>
            </a:r>
            <a:endParaRPr lang="en-US" sz="1500" dirty="0"/>
          </a:p>
        </p:txBody>
      </p:sp>
      <p:sp>
        <p:nvSpPr>
          <p:cNvPr id="13" name="Row 2 Goal Tracker card"/>
          <p:cNvSpPr/>
          <p:nvPr/>
        </p:nvSpPr>
        <p:spPr>
          <a:xfrm>
            <a:off x="7360920" y="2999232"/>
            <a:ext cx="4279392" cy="850392"/>
          </a:xfrm>
          <a:prstGeom prst="roundRect">
            <a:avLst>
              <a:gd name="adj" fmla="val 6452"/>
            </a:avLst>
          </a:prstGeom>
          <a:solidFill>
            <a:schemeClr val="accent1"/>
          </a:solidFill>
          <a:ln w="12700">
            <a:solidFill>
              <a:schemeClr val="accent1"/>
            </a:solidFill>
            <a:prstDash val="solid"/>
          </a:ln>
        </p:spPr>
      </p:sp>
      <p:sp>
        <p:nvSpPr>
          <p:cNvPr id="14" name="Row 2 Goal Tracker"/>
          <p:cNvSpPr txBox="1"/>
          <p:nvPr/>
        </p:nvSpPr>
        <p:spPr>
          <a:xfrm>
            <a:off x="7589520" y="2999232"/>
            <a:ext cx="3822192" cy="850392"/>
          </a:xfrm>
          <a:prstGeom prst="rect">
            <a:avLst/>
          </a:prstGeom>
          <a:noFill/>
          <a:ln/>
        </p:spPr>
        <p:txBody>
          <a:bodyPr wrap="square" lIns="0" tIns="0" rIns="0" bIns="0" rtlCol="0" anchor="ctr"/>
          <a:lstStyle/>
          <a:p>
            <a:pPr indent="0" marL="0">
              <a:buNone/>
            </a:pPr>
            <a:r>
              <a:rPr lang="en-US" sz="1500" b="1" dirty="0">
                <a:solidFill>
                  <a:schemeClr val="bg1"/>
                </a:solidFill>
              </a:rPr>
              <a:t>Needs a Path to Green and a back-to-Green date.</a:t>
            </a:r>
            <a:endParaRPr lang="en-US" sz="1500" dirty="0"/>
          </a:p>
        </p:txBody>
      </p:sp>
      <p:sp>
        <p:nvSpPr>
          <p:cNvPr id="15" name="Row 3 label"/>
          <p:cNvSpPr txBox="1"/>
          <p:nvPr/>
        </p:nvSpPr>
        <p:spPr>
          <a:xfrm>
            <a:off x="548640" y="3986784"/>
            <a:ext cx="2331720" cy="850392"/>
          </a:xfrm>
          <a:prstGeom prst="rect">
            <a:avLst/>
          </a:prstGeom>
          <a:noFill/>
          <a:ln/>
        </p:spPr>
        <p:txBody>
          <a:bodyPr wrap="square" lIns="0" tIns="0" rIns="0" bIns="0" rtlCol="0" anchor="ctr"/>
          <a:lstStyle/>
          <a:p>
            <a:pPr indent="0" marL="0">
              <a:buNone/>
            </a:pPr>
            <a:r>
              <a:rPr lang="en-US" sz="1600" b="1" dirty="0">
                <a:solidFill>
                  <a:schemeClr val="tx1"/>
                </a:solidFill>
              </a:rPr>
              <a:t>The review document</a:t>
            </a:r>
            <a:endParaRPr lang="en-US" sz="1600" dirty="0"/>
          </a:p>
        </p:txBody>
      </p:sp>
      <p:sp>
        <p:nvSpPr>
          <p:cNvPr id="16" name="Row 3 today card"/>
          <p:cNvSpPr/>
          <p:nvPr/>
        </p:nvSpPr>
        <p:spPr>
          <a:xfrm>
            <a:off x="3063240" y="3986784"/>
            <a:ext cx="4114800" cy="850392"/>
          </a:xfrm>
          <a:prstGeom prst="roundRect">
            <a:avLst>
              <a:gd name="adj" fmla="val 6452"/>
            </a:avLst>
          </a:prstGeom>
          <a:solidFill>
            <a:schemeClr val="bg2"/>
          </a:solidFill>
          <a:ln w="12700">
            <a:solidFill>
              <a:schemeClr val="bg2"/>
            </a:solidFill>
            <a:prstDash val="solid"/>
          </a:ln>
        </p:spPr>
      </p:sp>
      <p:sp>
        <p:nvSpPr>
          <p:cNvPr id="17" name="Row 3 today"/>
          <p:cNvSpPr txBox="1"/>
          <p:nvPr/>
        </p:nvSpPr>
        <p:spPr>
          <a:xfrm>
            <a:off x="3291840" y="3986784"/>
            <a:ext cx="3657600" cy="850392"/>
          </a:xfrm>
          <a:prstGeom prst="rect">
            <a:avLst/>
          </a:prstGeom>
          <a:noFill/>
          <a:ln/>
        </p:spPr>
        <p:txBody>
          <a:bodyPr wrap="square" lIns="0" tIns="0" rIns="0" bIns="0" rtlCol="0" anchor="ctr"/>
          <a:lstStyle/>
          <a:p>
            <a:pPr indent="0" marL="0">
              <a:buNone/>
            </a:pPr>
            <a:r>
              <a:rPr lang="en-US" sz="1500" dirty="0">
                <a:solidFill>
                  <a:schemeClr val="accent5"/>
                </a:solidFill>
              </a:rPr>
              <a:t>Assembled by hand every cycle.</a:t>
            </a:r>
            <a:endParaRPr lang="en-US" sz="1500" dirty="0"/>
          </a:p>
        </p:txBody>
      </p:sp>
      <p:sp>
        <p:nvSpPr>
          <p:cNvPr id="18" name="Row 3 Goal Tracker card"/>
          <p:cNvSpPr/>
          <p:nvPr/>
        </p:nvSpPr>
        <p:spPr>
          <a:xfrm>
            <a:off x="7360920" y="3986784"/>
            <a:ext cx="4279392" cy="850392"/>
          </a:xfrm>
          <a:prstGeom prst="roundRect">
            <a:avLst>
              <a:gd name="adj" fmla="val 6452"/>
            </a:avLst>
          </a:prstGeom>
          <a:solidFill>
            <a:schemeClr val="accent1"/>
          </a:solidFill>
          <a:ln w="12700">
            <a:solidFill>
              <a:schemeClr val="accent1"/>
            </a:solidFill>
            <a:prstDash val="solid"/>
          </a:ln>
        </p:spPr>
      </p:sp>
      <p:sp>
        <p:nvSpPr>
          <p:cNvPr id="19" name="Row 3 Goal Tracker"/>
          <p:cNvSpPr txBox="1"/>
          <p:nvPr/>
        </p:nvSpPr>
        <p:spPr>
          <a:xfrm>
            <a:off x="7589520" y="3986784"/>
            <a:ext cx="3822192" cy="850392"/>
          </a:xfrm>
          <a:prstGeom prst="rect">
            <a:avLst/>
          </a:prstGeom>
          <a:noFill/>
          <a:ln/>
        </p:spPr>
        <p:txBody>
          <a:bodyPr wrap="square" lIns="0" tIns="0" rIns="0" bIns="0" rtlCol="0" anchor="ctr"/>
          <a:lstStyle/>
          <a:p>
            <a:pPr indent="0" marL="0">
              <a:buNone/>
            </a:pPr>
            <a:r>
              <a:rPr lang="en-US" sz="1500" b="1" dirty="0">
                <a:solidFill>
                  <a:schemeClr val="bg1"/>
                </a:solidFill>
              </a:rPr>
              <a:t>Generated from check-ins, marking what changed.</a:t>
            </a:r>
            <a:endParaRPr lang="en-US" sz="1500" dirty="0"/>
          </a:p>
        </p:txBody>
      </p:sp>
      <p:sp>
        <p:nvSpPr>
          <p:cNvPr id="20" name="Row 4 label"/>
          <p:cNvSpPr txBox="1"/>
          <p:nvPr/>
        </p:nvSpPr>
        <p:spPr>
          <a:xfrm>
            <a:off x="548640" y="4974336"/>
            <a:ext cx="2331720" cy="850392"/>
          </a:xfrm>
          <a:prstGeom prst="rect">
            <a:avLst/>
          </a:prstGeom>
          <a:noFill/>
          <a:ln/>
        </p:spPr>
        <p:txBody>
          <a:bodyPr wrap="square" lIns="0" tIns="0" rIns="0" bIns="0" rtlCol="0" anchor="ctr"/>
          <a:lstStyle/>
          <a:p>
            <a:pPr indent="0" marL="0">
              <a:buNone/>
            </a:pPr>
            <a:r>
              <a:rPr lang="en-US" sz="1600" b="1" dirty="0">
                <a:solidFill>
                  <a:schemeClr val="tx1"/>
                </a:solidFill>
              </a:rPr>
              <a:t>History and follow-ups</a:t>
            </a:r>
            <a:endParaRPr lang="en-US" sz="1600" dirty="0"/>
          </a:p>
        </p:txBody>
      </p:sp>
      <p:sp>
        <p:nvSpPr>
          <p:cNvPr id="21" name="Row 4 today card"/>
          <p:cNvSpPr/>
          <p:nvPr/>
        </p:nvSpPr>
        <p:spPr>
          <a:xfrm>
            <a:off x="3063240" y="4974336"/>
            <a:ext cx="4114800" cy="850392"/>
          </a:xfrm>
          <a:prstGeom prst="roundRect">
            <a:avLst>
              <a:gd name="adj" fmla="val 6452"/>
            </a:avLst>
          </a:prstGeom>
          <a:solidFill>
            <a:schemeClr val="bg2"/>
          </a:solidFill>
          <a:ln w="12700">
            <a:solidFill>
              <a:schemeClr val="bg2"/>
            </a:solidFill>
            <a:prstDash val="solid"/>
          </a:ln>
        </p:spPr>
      </p:sp>
      <p:sp>
        <p:nvSpPr>
          <p:cNvPr id="22" name="Row 4 today"/>
          <p:cNvSpPr txBox="1"/>
          <p:nvPr/>
        </p:nvSpPr>
        <p:spPr>
          <a:xfrm>
            <a:off x="3291840" y="4974336"/>
            <a:ext cx="3657600" cy="850392"/>
          </a:xfrm>
          <a:prstGeom prst="rect">
            <a:avLst/>
          </a:prstGeom>
          <a:noFill/>
          <a:ln/>
        </p:spPr>
        <p:txBody>
          <a:bodyPr wrap="square" lIns="0" tIns="0" rIns="0" bIns="0" rtlCol="0" anchor="ctr"/>
          <a:lstStyle/>
          <a:p>
            <a:pPr indent="0" marL="0">
              <a:buNone/>
            </a:pPr>
            <a:r>
              <a:rPr lang="en-US" sz="1500" dirty="0">
                <a:solidFill>
                  <a:schemeClr val="accent5"/>
                </a:solidFill>
              </a:rPr>
              <a:t>Spread across old decks and notes.</a:t>
            </a:r>
            <a:endParaRPr lang="en-US" sz="1500" dirty="0"/>
          </a:p>
        </p:txBody>
      </p:sp>
      <p:sp>
        <p:nvSpPr>
          <p:cNvPr id="23" name="Row 4 Goal Tracker card"/>
          <p:cNvSpPr/>
          <p:nvPr/>
        </p:nvSpPr>
        <p:spPr>
          <a:xfrm>
            <a:off x="7360920" y="4974336"/>
            <a:ext cx="4279392" cy="850392"/>
          </a:xfrm>
          <a:prstGeom prst="roundRect">
            <a:avLst>
              <a:gd name="adj" fmla="val 6452"/>
            </a:avLst>
          </a:prstGeom>
          <a:solidFill>
            <a:schemeClr val="accent1"/>
          </a:solidFill>
          <a:ln w="12700">
            <a:solidFill>
              <a:schemeClr val="accent1"/>
            </a:solidFill>
            <a:prstDash val="solid"/>
          </a:ln>
        </p:spPr>
      </p:sp>
      <p:sp>
        <p:nvSpPr>
          <p:cNvPr id="24" name="Row 4 Goal Tracker"/>
          <p:cNvSpPr txBox="1"/>
          <p:nvPr/>
        </p:nvSpPr>
        <p:spPr>
          <a:xfrm>
            <a:off x="7589520" y="4974336"/>
            <a:ext cx="3822192" cy="850392"/>
          </a:xfrm>
          <a:prstGeom prst="rect">
            <a:avLst/>
          </a:prstGeom>
          <a:noFill/>
          <a:ln/>
        </p:spPr>
        <p:txBody>
          <a:bodyPr wrap="square" lIns="0" tIns="0" rIns="0" bIns="0" rtlCol="0" anchor="ctr"/>
          <a:lstStyle/>
          <a:p>
            <a:pPr indent="0" marL="0">
              <a:buNone/>
            </a:pPr>
            <a:r>
              <a:rPr lang="en-US" sz="1500" b="1" dirty="0">
                <a:solidFill>
                  <a:schemeClr val="bg1"/>
                </a:solidFill>
              </a:rPr>
              <a:t>Kept on the goal. Action Items carry forward.</a:t>
            </a:r>
            <a:endParaRPr lang="en-US" sz="15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One mechanism, from weekly update to review</a:t>
            </a:r>
            <a:endParaRPr lang="en-US" sz="3600" dirty="0"/>
          </a:p>
        </p:txBody>
      </p:sp>
      <p:sp>
        <p:nvSpPr>
          <p:cNvPr id="3" name="Step 1 circle"/>
          <p:cNvSpPr/>
          <p:nvPr/>
        </p:nvSpPr>
        <p:spPr>
          <a:xfrm>
            <a:off x="548640" y="1783080"/>
            <a:ext cx="731520" cy="731520"/>
          </a:xfrm>
          <a:prstGeom prst="ellipse">
            <a:avLst/>
          </a:prstGeom>
          <a:solidFill>
            <a:schemeClr val="accent1"/>
          </a:solidFill>
          <a:ln w="12700">
            <a:solidFill>
              <a:schemeClr val="accent1"/>
            </a:solidFill>
            <a:prstDash val="solid"/>
          </a:ln>
        </p:spPr>
      </p:sp>
      <p:sp>
        <p:nvSpPr>
          <p:cNvPr id="4" name="Step 1 number"/>
          <p:cNvSpPr txBox="1"/>
          <p:nvPr/>
        </p:nvSpPr>
        <p:spPr>
          <a:xfrm>
            <a:off x="548640" y="178308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1</a:t>
            </a:r>
            <a:endParaRPr lang="en-US" sz="2800" dirty="0"/>
          </a:p>
        </p:txBody>
      </p:sp>
      <p:sp>
        <p:nvSpPr>
          <p:cNvPr id="5" name="Arrow 1"/>
          <p:cNvSpPr/>
          <p:nvPr/>
        </p:nvSpPr>
        <p:spPr>
          <a:xfrm>
            <a:off x="1463040" y="2148840"/>
            <a:ext cx="2724912" cy="0"/>
          </a:xfrm>
          <a:prstGeom prst="line">
            <a:avLst/>
          </a:prstGeom>
          <a:noFill/>
          <a:ln w="25400">
            <a:solidFill>
              <a:schemeClr val="accent6"/>
            </a:solidFill>
            <a:prstDash val="solid"/>
            <a:tailEnd type="triangle"/>
          </a:ln>
        </p:spPr>
      </p:sp>
      <p:sp>
        <p:nvSpPr>
          <p:cNvPr id="6" name="Step 1 heading"/>
          <p:cNvSpPr txBox="1"/>
          <p:nvPr/>
        </p:nvSpPr>
        <p:spPr>
          <a:xfrm>
            <a:off x="548640" y="2743200"/>
            <a:ext cx="3291840" cy="731520"/>
          </a:xfrm>
          <a:prstGeom prst="rect">
            <a:avLst/>
          </a:prstGeom>
          <a:noFill/>
          <a:ln/>
        </p:spPr>
        <p:txBody>
          <a:bodyPr wrap="square" lIns="0" tIns="0" rIns="0" bIns="0" rtlCol="0" anchor="t"/>
          <a:lstStyle/>
          <a:p>
            <a:pPr indent="0" marL="0">
              <a:buNone/>
            </a:pPr>
            <a:r>
              <a:rPr lang="en-US" sz="2200" b="1" dirty="0">
                <a:solidFill>
                  <a:schemeClr val="tx1"/>
                </a:solidFill>
              </a:rPr>
              <a:t>Owners check in weekly</a:t>
            </a:r>
            <a:endParaRPr lang="en-US" sz="2200" dirty="0"/>
          </a:p>
        </p:txBody>
      </p:sp>
      <p:sp>
        <p:nvSpPr>
          <p:cNvPr id="7" name="Step 1 text"/>
          <p:cNvSpPr txBox="1"/>
          <p:nvPr/>
        </p:nvSpPr>
        <p:spPr>
          <a:xfrm>
            <a:off x="548640" y="3520440"/>
            <a:ext cx="3291840" cy="1188720"/>
          </a:xfrm>
          <a:prstGeom prst="rect">
            <a:avLst/>
          </a:prstGeom>
          <a:noFill/>
          <a:ln/>
        </p:spPr>
        <p:txBody>
          <a:bodyPr wrap="square" lIns="0" tIns="0" rIns="0" bIns="0" rtlCol="0" anchor="t"/>
          <a:lstStyle/>
          <a:p>
            <a:pPr indent="0" marL="0">
              <a:buNone/>
            </a:pPr>
            <a:r>
              <a:rPr lang="en-US" sz="1500" dirty="0">
                <a:solidFill>
                  <a:schemeClr val="accent5"/>
                </a:solidFill>
              </a:rPr>
              <a:t>Health, a short status, and any date changes. A routine week is one click: No change.</a:t>
            </a:r>
            <a:endParaRPr lang="en-US" sz="1500" dirty="0"/>
          </a:p>
        </p:txBody>
      </p:sp>
      <p:sp>
        <p:nvSpPr>
          <p:cNvPr id="8" name="Step 2 circle"/>
          <p:cNvSpPr/>
          <p:nvPr/>
        </p:nvSpPr>
        <p:spPr>
          <a:xfrm>
            <a:off x="4370832" y="1783080"/>
            <a:ext cx="731520" cy="731520"/>
          </a:xfrm>
          <a:prstGeom prst="ellipse">
            <a:avLst/>
          </a:prstGeom>
          <a:solidFill>
            <a:schemeClr val="accent1"/>
          </a:solidFill>
          <a:ln w="12700">
            <a:solidFill>
              <a:schemeClr val="accent1"/>
            </a:solidFill>
            <a:prstDash val="solid"/>
          </a:ln>
        </p:spPr>
      </p:sp>
      <p:sp>
        <p:nvSpPr>
          <p:cNvPr id="9" name="Step 2 number"/>
          <p:cNvSpPr txBox="1"/>
          <p:nvPr/>
        </p:nvSpPr>
        <p:spPr>
          <a:xfrm>
            <a:off x="4370832" y="178308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2</a:t>
            </a:r>
            <a:endParaRPr lang="en-US" sz="2800" dirty="0"/>
          </a:p>
        </p:txBody>
      </p:sp>
      <p:sp>
        <p:nvSpPr>
          <p:cNvPr id="10" name="Arrow 2"/>
          <p:cNvSpPr/>
          <p:nvPr/>
        </p:nvSpPr>
        <p:spPr>
          <a:xfrm>
            <a:off x="5285232" y="2148840"/>
            <a:ext cx="2724912" cy="0"/>
          </a:xfrm>
          <a:prstGeom prst="line">
            <a:avLst/>
          </a:prstGeom>
          <a:noFill/>
          <a:ln w="25400">
            <a:solidFill>
              <a:schemeClr val="accent6"/>
            </a:solidFill>
            <a:prstDash val="solid"/>
            <a:tailEnd type="triangle"/>
          </a:ln>
        </p:spPr>
      </p:sp>
      <p:sp>
        <p:nvSpPr>
          <p:cNvPr id="11" name="Step 2 heading"/>
          <p:cNvSpPr txBox="1"/>
          <p:nvPr/>
        </p:nvSpPr>
        <p:spPr>
          <a:xfrm>
            <a:off x="4370832" y="2743200"/>
            <a:ext cx="3291840" cy="731520"/>
          </a:xfrm>
          <a:prstGeom prst="rect">
            <a:avLst/>
          </a:prstGeom>
          <a:noFill/>
          <a:ln/>
        </p:spPr>
        <p:txBody>
          <a:bodyPr wrap="square" lIns="0" tIns="0" rIns="0" bIns="0" rtlCol="0" anchor="t"/>
          <a:lstStyle/>
          <a:p>
            <a:pPr indent="0" marL="0">
              <a:buNone/>
            </a:pPr>
            <a:r>
              <a:rPr lang="en-US" sz="2200" b="1" dirty="0">
                <a:solidFill>
                  <a:schemeClr val="tx1"/>
                </a:solidFill>
              </a:rPr>
              <a:t>Risks flags what needs attention</a:t>
            </a:r>
            <a:endParaRPr lang="en-US" sz="2200" dirty="0"/>
          </a:p>
        </p:txBody>
      </p:sp>
      <p:sp>
        <p:nvSpPr>
          <p:cNvPr id="12" name="Step 2 text"/>
          <p:cNvSpPr txBox="1"/>
          <p:nvPr/>
        </p:nvSpPr>
        <p:spPr>
          <a:xfrm>
            <a:off x="4370832" y="3520440"/>
            <a:ext cx="3291840" cy="1188720"/>
          </a:xfrm>
          <a:prstGeom prst="rect">
            <a:avLst/>
          </a:prstGeom>
          <a:noFill/>
          <a:ln/>
        </p:spPr>
        <p:txBody>
          <a:bodyPr wrap="square" lIns="0" tIns="0" rIns="0" bIns="0" rtlCol="0" anchor="t"/>
          <a:lstStyle/>
          <a:p>
            <a:pPr indent="0" marL="0">
              <a:buNone/>
            </a:pPr>
            <a:r>
              <a:rPr lang="en-US" sz="1500" dirty="0">
                <a:solidFill>
                  <a:schemeClr val="accent5"/>
                </a:solidFill>
              </a:rPr>
              <a:t>Red, Stale, unaligned and conflicting goals, grouped by who has to act, each with one fix.</a:t>
            </a:r>
            <a:endParaRPr lang="en-US" sz="1500" dirty="0"/>
          </a:p>
        </p:txBody>
      </p:sp>
      <p:sp>
        <p:nvSpPr>
          <p:cNvPr id="13" name="Step 3 circle"/>
          <p:cNvSpPr/>
          <p:nvPr/>
        </p:nvSpPr>
        <p:spPr>
          <a:xfrm>
            <a:off x="8193024" y="1783080"/>
            <a:ext cx="731520" cy="731520"/>
          </a:xfrm>
          <a:prstGeom prst="ellipse">
            <a:avLst/>
          </a:prstGeom>
          <a:solidFill>
            <a:schemeClr val="accent1"/>
          </a:solidFill>
          <a:ln w="12700">
            <a:solidFill>
              <a:schemeClr val="accent1"/>
            </a:solidFill>
            <a:prstDash val="solid"/>
          </a:ln>
        </p:spPr>
      </p:sp>
      <p:sp>
        <p:nvSpPr>
          <p:cNvPr id="14" name="Step 3 number"/>
          <p:cNvSpPr txBox="1"/>
          <p:nvPr/>
        </p:nvSpPr>
        <p:spPr>
          <a:xfrm>
            <a:off x="8193024" y="178308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3</a:t>
            </a:r>
            <a:endParaRPr lang="en-US" sz="2800" dirty="0"/>
          </a:p>
        </p:txBody>
      </p:sp>
      <p:sp>
        <p:nvSpPr>
          <p:cNvPr id="15" name="Step 3 heading"/>
          <p:cNvSpPr txBox="1"/>
          <p:nvPr/>
        </p:nvSpPr>
        <p:spPr>
          <a:xfrm>
            <a:off x="8193024" y="2743200"/>
            <a:ext cx="3291840" cy="731520"/>
          </a:xfrm>
          <a:prstGeom prst="rect">
            <a:avLst/>
          </a:prstGeom>
          <a:noFill/>
          <a:ln/>
        </p:spPr>
        <p:txBody>
          <a:bodyPr wrap="square" lIns="0" tIns="0" rIns="0" bIns="0" rtlCol="0" anchor="t"/>
          <a:lstStyle/>
          <a:p>
            <a:pPr indent="0" marL="0">
              <a:buNone/>
            </a:pPr>
            <a:r>
              <a:rPr lang="en-US" sz="2200" b="1" dirty="0">
                <a:solidFill>
                  <a:schemeClr val="tx1"/>
                </a:solidFill>
              </a:rPr>
              <a:t>The Report writes itself</a:t>
            </a:r>
            <a:endParaRPr lang="en-US" sz="2200" dirty="0"/>
          </a:p>
        </p:txBody>
      </p:sp>
      <p:sp>
        <p:nvSpPr>
          <p:cNvPr id="16" name="Step 3 text"/>
          <p:cNvSpPr txBox="1"/>
          <p:nvPr/>
        </p:nvSpPr>
        <p:spPr>
          <a:xfrm>
            <a:off x="8193024" y="3520440"/>
            <a:ext cx="3291840" cy="1188720"/>
          </a:xfrm>
          <a:prstGeom prst="rect">
            <a:avLst/>
          </a:prstGeom>
          <a:noFill/>
          <a:ln/>
        </p:spPr>
        <p:txBody>
          <a:bodyPr wrap="square" lIns="0" tIns="0" rIns="0" bIns="0" rtlCol="0" anchor="t"/>
          <a:lstStyle/>
          <a:p>
            <a:pPr indent="0" marL="0">
              <a:buNone/>
            </a:pPr>
            <a:r>
              <a:rPr lang="en-US" sz="1500" dirty="0">
                <a:solidFill>
                  <a:schemeClr val="accent5"/>
                </a:solidFill>
              </a:rPr>
              <a:t>Exceptions in full, on-track goals in one line each, with what changed since the last review.</a:t>
            </a:r>
            <a:endParaRPr lang="en-US" sz="1500" dirty="0"/>
          </a:p>
        </p:txBody>
      </p:sp>
      <p:sp>
        <p:nvSpPr>
          <p:cNvPr id="17" name="Positioning band"/>
          <p:cNvSpPr/>
          <p:nvPr/>
        </p:nvSpPr>
        <p:spPr>
          <a:xfrm>
            <a:off x="548640" y="4983480"/>
            <a:ext cx="11091672" cy="1005840"/>
          </a:xfrm>
          <a:prstGeom prst="roundRect">
            <a:avLst>
              <a:gd name="adj" fmla="val 7273"/>
            </a:avLst>
          </a:prstGeom>
          <a:solidFill>
            <a:schemeClr val="bg2"/>
          </a:solidFill>
          <a:ln w="12700">
            <a:solidFill>
              <a:schemeClr val="bg2"/>
            </a:solidFill>
            <a:prstDash val="solid"/>
          </a:ln>
        </p:spPr>
      </p:sp>
      <p:sp>
        <p:nvSpPr>
          <p:cNvPr id="18" name="Positioning text"/>
          <p:cNvSpPr txBox="1"/>
          <p:nvPr/>
        </p:nvSpPr>
        <p:spPr>
          <a:xfrm>
            <a:off x="822960" y="4983480"/>
            <a:ext cx="10515600" cy="1005840"/>
          </a:xfrm>
          <a:prstGeom prst="rect">
            <a:avLst/>
          </a:prstGeom>
          <a:noFill/>
          <a:ln/>
        </p:spPr>
        <p:txBody>
          <a:bodyPr wrap="square" lIns="0" tIns="0" rIns="0" bIns="0" rtlCol="0" anchor="ctr"/>
          <a:lstStyle/>
          <a:p>
            <a:pPr indent="0" marL="0">
              <a:buNone/>
            </a:pPr>
            <a:r>
              <a:rPr lang="en-US" sz="1700" b="1" dirty="0">
                <a:solidFill>
                  <a:schemeClr val="tx2"/>
                </a:solidFill>
              </a:rPr>
              <a:t>The rigor of an MBR, the ease of a 5-15, the org-wide view of OKRs.</a:t>
            </a:r>
            <a:pPr indent="0" marL="0">
              <a:buNone/>
            </a:pPr>
            <a:r>
              <a:rPr lang="en-US" sz="1700" dirty="0">
                <a:solidFill>
                  <a:schemeClr val="accent5"/>
                </a:solidFill>
              </a:rPr>
              <a:t>  Managers supply the data cheaply; leaders read it easily.</a:t>
            </a:r>
            <a:endParaRPr lang="en-US" sz="17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Find trouble: a silent goal is as loud as a Red one</a:t>
            </a:r>
            <a:endParaRPr lang="en-US" sz="3600" dirty="0"/>
          </a:p>
        </p:txBody>
      </p:sp>
      <p:sp>
        <p:nvSpPr>
          <p:cNvPr id="3" name="Risks page frame"/>
          <p:cNvSpPr/>
          <p:nvPr/>
        </p:nvSpPr>
        <p:spPr>
          <a:xfrm>
            <a:off x="4416552" y="1463040"/>
            <a:ext cx="7223760" cy="4514850"/>
          </a:xfrm>
          <a:prstGeom prst="rect">
            <a:avLst/>
          </a:prstGeom>
          <a:solidFill>
            <a:schemeClr val="bg1"/>
          </a:solidFill>
          <a:ln w="12700">
            <a:solidFill>
              <a:schemeClr val="accent6"/>
            </a:solidFill>
            <a:prstDash val="solid"/>
          </a:ln>
          <a:effectLst>
            <a:outerShdw sx="100000" sy="100000" kx="0" ky="0" algn="bl" rotWithShape="0" blurRad="152400" dist="50800" dir="5400000">
              <a:srgbClr val="134E4A">
                <a:alpha val="18000"/>
              </a:srgbClr>
            </a:outerShdw>
          </a:effectLst>
        </p:spPr>
      </p:sp>
      <p:pic>
        <p:nvPicPr>
          <p:cNvPr id="4" name="Risks page" descr="The Risks page with ten flagged goals in three groups">    </p:cNvPr>
          <p:cNvPicPr>
            <a:picLocks noChangeAspect="1"/>
          </p:cNvPicPr>
          <p:nvPr/>
        </p:nvPicPr>
        <p:blipFill>
          <a:blip r:embed="rId1"/>
          <a:stretch>
            <a:fillRect/>
          </a:stretch>
        </p:blipFill>
        <p:spPr>
          <a:xfrm>
            <a:off x="4416552" y="1463040"/>
            <a:ext cx="7223760" cy="4514850"/>
          </a:xfrm>
          <a:prstGeom prst="rect">
            <a:avLst/>
          </a:prstGeom>
        </p:spPr>
      </p:pic>
      <p:sp>
        <p:nvSpPr>
          <p:cNvPr id="5" name="Caption"/>
          <p:cNvSpPr txBox="1"/>
          <p:nvPr/>
        </p:nvSpPr>
        <p:spPr>
          <a:xfrm>
            <a:off x="4416552" y="6053328"/>
            <a:ext cx="6949440" cy="256032"/>
          </a:xfrm>
          <a:prstGeom prst="rect">
            <a:avLst/>
          </a:prstGeom>
          <a:noFill/>
          <a:ln/>
        </p:spPr>
        <p:txBody>
          <a:bodyPr wrap="square" lIns="0" tIns="0" rIns="0" bIns="0" rtlCol="0" anchor="ctr"/>
          <a:lstStyle/>
          <a:p>
            <a:pPr indent="0" marL="0">
              <a:buNone/>
            </a:pPr>
            <a:r>
              <a:rPr lang="en-US" sz="1000" i="1" dirty="0">
                <a:solidFill>
                  <a:schemeClr val="accent5"/>
                </a:solidFill>
              </a:rPr>
              <a:t>Screenshots from the product, on a seeded 50-goal demo org</a:t>
            </a:r>
            <a:endParaRPr lang="en-US" sz="1000" dirty="0"/>
          </a:p>
        </p:txBody>
      </p:sp>
      <p:sp>
        <p:nvSpPr>
          <p:cNvPr id="6" name="Point 1 mark"/>
          <p:cNvSpPr/>
          <p:nvPr/>
        </p:nvSpPr>
        <p:spPr>
          <a:xfrm>
            <a:off x="548640" y="1664208"/>
            <a:ext cx="182880" cy="182880"/>
          </a:xfrm>
          <a:prstGeom prst="rect">
            <a:avLst/>
          </a:prstGeom>
          <a:solidFill>
            <a:schemeClr val="accent5"/>
          </a:solidFill>
          <a:ln w="12700">
            <a:solidFill>
              <a:schemeClr val="accent5"/>
            </a:solidFill>
            <a:prstDash val="solid"/>
          </a:ln>
        </p:spPr>
      </p:sp>
      <p:sp>
        <p:nvSpPr>
          <p:cNvPr id="7" name="Point 1 heading"/>
          <p:cNvSpPr txBox="1"/>
          <p:nvPr/>
        </p:nvSpPr>
        <p:spPr>
          <a:xfrm>
            <a:off x="896112" y="1600200"/>
            <a:ext cx="3172968" cy="329184"/>
          </a:xfrm>
          <a:prstGeom prst="rect">
            <a:avLst/>
          </a:prstGeom>
          <a:noFill/>
          <a:ln/>
        </p:spPr>
        <p:txBody>
          <a:bodyPr wrap="square" lIns="0" tIns="0" rIns="0" bIns="0" rtlCol="0" anchor="t"/>
          <a:lstStyle/>
          <a:p>
            <a:pPr indent="0" marL="0">
              <a:buNone/>
            </a:pPr>
            <a:r>
              <a:rPr lang="en-US" sz="1800" b="1" dirty="0">
                <a:solidFill>
                  <a:schemeClr val="tx1"/>
                </a:solidFill>
              </a:rPr>
              <a:t>Stale is a first-class signal</a:t>
            </a:r>
            <a:endParaRPr lang="en-US" sz="1800" dirty="0"/>
          </a:p>
        </p:txBody>
      </p:sp>
      <p:sp>
        <p:nvSpPr>
          <p:cNvPr id="8" name="Point 1 text"/>
          <p:cNvSpPr txBox="1"/>
          <p:nvPr/>
        </p:nvSpPr>
        <p:spPr>
          <a:xfrm>
            <a:off x="896112" y="1965960"/>
            <a:ext cx="3172968" cy="914400"/>
          </a:xfrm>
          <a:prstGeom prst="rect">
            <a:avLst/>
          </a:prstGeom>
          <a:noFill/>
          <a:ln/>
        </p:spPr>
        <p:txBody>
          <a:bodyPr wrap="square" lIns="0" tIns="0" rIns="0" bIns="0" rtlCol="0" anchor="t"/>
          <a:lstStyle/>
          <a:p>
            <a:pPr indent="0" marL="0">
              <a:buNone/>
            </a:pPr>
            <a:r>
              <a:rPr lang="en-US" sz="1400" dirty="0">
                <a:solidFill>
                  <a:schemeClr val="accent5"/>
                </a:solidFill>
              </a:rPr>
              <a:t>A goal past its check-in cadence is flagged, even when its last status was Green.</a:t>
            </a:r>
            <a:endParaRPr lang="en-US" sz="1400" dirty="0"/>
          </a:p>
        </p:txBody>
      </p:sp>
      <p:sp>
        <p:nvSpPr>
          <p:cNvPr id="9" name="Point 2 mark"/>
          <p:cNvSpPr/>
          <p:nvPr/>
        </p:nvSpPr>
        <p:spPr>
          <a:xfrm>
            <a:off x="548640" y="3081528"/>
            <a:ext cx="182880" cy="182880"/>
          </a:xfrm>
          <a:prstGeom prst="triangle">
            <a:avLst/>
          </a:prstGeom>
          <a:solidFill>
            <a:schemeClr val="accent3"/>
          </a:solidFill>
          <a:ln w="12700">
            <a:solidFill>
              <a:schemeClr val="accent3"/>
            </a:solidFill>
            <a:prstDash val="solid"/>
          </a:ln>
        </p:spPr>
      </p:sp>
      <p:sp>
        <p:nvSpPr>
          <p:cNvPr id="10" name="Point 2 heading"/>
          <p:cNvSpPr txBox="1"/>
          <p:nvPr/>
        </p:nvSpPr>
        <p:spPr>
          <a:xfrm>
            <a:off x="896112" y="3017520"/>
            <a:ext cx="3172968" cy="329184"/>
          </a:xfrm>
          <a:prstGeom prst="rect">
            <a:avLst/>
          </a:prstGeom>
          <a:noFill/>
          <a:ln/>
        </p:spPr>
        <p:txBody>
          <a:bodyPr wrap="square" lIns="0" tIns="0" rIns="0" bIns="0" rtlCol="0" anchor="t"/>
          <a:lstStyle/>
          <a:p>
            <a:pPr indent="0" marL="0">
              <a:buNone/>
            </a:pPr>
            <a:r>
              <a:rPr lang="en-US" sz="1800" b="1" dirty="0">
                <a:solidFill>
                  <a:schemeClr val="tx1"/>
                </a:solidFill>
              </a:rPr>
              <a:t>Grouped by who must act</a:t>
            </a:r>
            <a:endParaRPr lang="en-US" sz="1800" dirty="0"/>
          </a:p>
        </p:txBody>
      </p:sp>
      <p:sp>
        <p:nvSpPr>
          <p:cNvPr id="11" name="Point 2 text"/>
          <p:cNvSpPr txBox="1"/>
          <p:nvPr/>
        </p:nvSpPr>
        <p:spPr>
          <a:xfrm>
            <a:off x="896112" y="3383280"/>
            <a:ext cx="3172968" cy="914400"/>
          </a:xfrm>
          <a:prstGeom prst="rect">
            <a:avLst/>
          </a:prstGeom>
          <a:noFill/>
          <a:ln/>
        </p:spPr>
        <p:txBody>
          <a:bodyPr wrap="square" lIns="0" tIns="0" rIns="0" bIns="0" rtlCol="0" anchor="t"/>
          <a:lstStyle/>
          <a:p>
            <a:pPr indent="0" marL="0">
              <a:buNone/>
            </a:pPr>
            <a:r>
              <a:rPr lang="en-US" sz="1400" dirty="0">
                <a:solidFill>
                  <a:schemeClr val="accent5"/>
                </a:solidFill>
              </a:rPr>
              <a:t>Owner needs to update, plan doesn't fit, or needs an Admin.</a:t>
            </a:r>
            <a:endParaRPr lang="en-US" sz="1400" dirty="0"/>
          </a:p>
        </p:txBody>
      </p:sp>
      <p:sp>
        <p:nvSpPr>
          <p:cNvPr id="12" name="Point 3 mark"/>
          <p:cNvSpPr/>
          <p:nvPr/>
        </p:nvSpPr>
        <p:spPr>
          <a:xfrm>
            <a:off x="548640" y="4498848"/>
            <a:ext cx="182880" cy="182880"/>
          </a:xfrm>
          <a:prstGeom prst="ellipse">
            <a:avLst/>
          </a:prstGeom>
          <a:solidFill>
            <a:schemeClr val="accent4"/>
          </a:solidFill>
          <a:ln w="12700">
            <a:solidFill>
              <a:schemeClr val="accent4"/>
            </a:solidFill>
            <a:prstDash val="solid"/>
          </a:ln>
        </p:spPr>
      </p:sp>
      <p:sp>
        <p:nvSpPr>
          <p:cNvPr id="13" name="Point 3 heading"/>
          <p:cNvSpPr txBox="1"/>
          <p:nvPr/>
        </p:nvSpPr>
        <p:spPr>
          <a:xfrm>
            <a:off x="896112" y="4434840"/>
            <a:ext cx="3172968" cy="329184"/>
          </a:xfrm>
          <a:prstGeom prst="rect">
            <a:avLst/>
          </a:prstGeom>
          <a:noFill/>
          <a:ln/>
        </p:spPr>
        <p:txBody>
          <a:bodyPr wrap="square" lIns="0" tIns="0" rIns="0" bIns="0" rtlCol="0" anchor="t"/>
          <a:lstStyle/>
          <a:p>
            <a:pPr indent="0" marL="0">
              <a:buNone/>
            </a:pPr>
            <a:r>
              <a:rPr lang="en-US" sz="1800" b="1" dirty="0">
                <a:solidFill>
                  <a:schemeClr val="tx1"/>
                </a:solidFill>
              </a:rPr>
              <a:t>One fix per row</a:t>
            </a:r>
            <a:endParaRPr lang="en-US" sz="1800" dirty="0"/>
          </a:p>
        </p:txBody>
      </p:sp>
      <p:sp>
        <p:nvSpPr>
          <p:cNvPr id="14" name="Point 3 text"/>
          <p:cNvSpPr txBox="1"/>
          <p:nvPr/>
        </p:nvSpPr>
        <p:spPr>
          <a:xfrm>
            <a:off x="896112" y="4800600"/>
            <a:ext cx="3172968" cy="914400"/>
          </a:xfrm>
          <a:prstGeom prst="rect">
            <a:avLst/>
          </a:prstGeom>
          <a:noFill/>
          <a:ln/>
        </p:spPr>
        <p:txBody>
          <a:bodyPr wrap="square" lIns="0" tIns="0" rIns="0" bIns="0" rtlCol="0" anchor="t"/>
          <a:lstStyle/>
          <a:p>
            <a:pPr indent="0" marL="0">
              <a:buNone/>
            </a:pPr>
            <a:r>
              <a:rPr lang="en-US" sz="1400" dirty="0">
                <a:solidFill>
                  <a:schemeClr val="accent5"/>
                </a:solidFill>
              </a:rPr>
              <a:t>Nudge the owner, suggest a parent, or compare dates. No looking up who owns what.</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Understand it: the plan, the date, the review</a:t>
            </a:r>
            <a:endParaRPr lang="en-US" sz="3600" dirty="0"/>
          </a:p>
        </p:txBody>
      </p:sp>
      <p:sp>
        <p:nvSpPr>
          <p:cNvPr id="3" name="Goal page frame"/>
          <p:cNvSpPr/>
          <p:nvPr/>
        </p:nvSpPr>
        <p:spPr>
          <a:xfrm>
            <a:off x="548640" y="1463040"/>
            <a:ext cx="5394960" cy="3371850"/>
          </a:xfrm>
          <a:prstGeom prst="rect">
            <a:avLst/>
          </a:prstGeom>
          <a:solidFill>
            <a:schemeClr val="bg1"/>
          </a:solidFill>
          <a:ln w="12700">
            <a:solidFill>
              <a:schemeClr val="accent6"/>
            </a:solidFill>
            <a:prstDash val="solid"/>
          </a:ln>
          <a:effectLst>
            <a:outerShdw sx="100000" sy="100000" kx="0" ky="0" algn="bl" rotWithShape="0" blurRad="152400" dist="50800" dir="5400000">
              <a:srgbClr val="134E4A">
                <a:alpha val="18000"/>
              </a:srgbClr>
            </a:outerShdw>
          </a:effectLst>
        </p:spPr>
      </p:sp>
      <p:pic>
        <p:nvPicPr>
          <p:cNvPr id="4" name="Goal page" descr="A Red goal's page showing its latest status and Path to Green">    </p:cNvPr>
          <p:cNvPicPr>
            <a:picLocks noChangeAspect="1"/>
          </p:cNvPicPr>
          <p:nvPr/>
        </p:nvPicPr>
        <p:blipFill>
          <a:blip r:embed="rId1"/>
          <a:stretch>
            <a:fillRect/>
          </a:stretch>
        </p:blipFill>
        <p:spPr>
          <a:xfrm>
            <a:off x="548640" y="1463040"/>
            <a:ext cx="5394960" cy="3371850"/>
          </a:xfrm>
          <a:prstGeom prst="rect">
            <a:avLst/>
          </a:prstGeom>
        </p:spPr>
      </p:pic>
      <p:sp>
        <p:nvSpPr>
          <p:cNvPr id="5" name="Published report frame"/>
          <p:cNvSpPr/>
          <p:nvPr/>
        </p:nvSpPr>
        <p:spPr>
          <a:xfrm>
            <a:off x="6245352" y="1463040"/>
            <a:ext cx="5394960" cy="3371850"/>
          </a:xfrm>
          <a:prstGeom prst="rect">
            <a:avLst/>
          </a:prstGeom>
          <a:solidFill>
            <a:schemeClr val="bg1"/>
          </a:solidFill>
          <a:ln w="12700">
            <a:solidFill>
              <a:schemeClr val="accent6"/>
            </a:solidFill>
            <a:prstDash val="solid"/>
          </a:ln>
          <a:effectLst>
            <a:outerShdw sx="100000" sy="100000" kx="0" ky="0" algn="bl" rotWithShape="0" blurRad="152400" dist="50800" dir="5400000">
              <a:srgbClr val="134E4A">
                <a:alpha val="18000"/>
              </a:srgbClr>
            </a:outerShdw>
          </a:effectLst>
        </p:spPr>
      </p:sp>
      <p:pic>
        <p:nvPicPr>
          <p:cNvPr id="6" name="Published report" descr="A published monthly review with a Health summary and a Red goal in full">    </p:cNvPr>
          <p:cNvPicPr>
            <a:picLocks noChangeAspect="1"/>
          </p:cNvPicPr>
          <p:nvPr/>
        </p:nvPicPr>
        <p:blipFill>
          <a:blip r:embed="rId2"/>
          <a:stretch>
            <a:fillRect/>
          </a:stretch>
        </p:blipFill>
        <p:spPr>
          <a:xfrm>
            <a:off x="6245352" y="1463040"/>
            <a:ext cx="5394960" cy="3371850"/>
          </a:xfrm>
          <a:prstGeom prst="rect">
            <a:avLst/>
          </a:prstGeom>
        </p:spPr>
      </p:pic>
      <p:sp>
        <p:nvSpPr>
          <p:cNvPr id="7" name="Caption 1 mark"/>
          <p:cNvSpPr/>
          <p:nvPr/>
        </p:nvSpPr>
        <p:spPr>
          <a:xfrm>
            <a:off x="548640" y="5138928"/>
            <a:ext cx="182880" cy="182880"/>
          </a:xfrm>
          <a:prstGeom prst="rect">
            <a:avLst/>
          </a:prstGeom>
          <a:solidFill>
            <a:schemeClr val="accent2"/>
          </a:solidFill>
          <a:ln w="12700">
            <a:solidFill>
              <a:schemeClr val="accent2"/>
            </a:solidFill>
            <a:prstDash val="solid"/>
          </a:ln>
        </p:spPr>
      </p:sp>
      <p:sp>
        <p:nvSpPr>
          <p:cNvPr id="8" name="Caption 1 heading"/>
          <p:cNvSpPr txBox="1"/>
          <p:nvPr/>
        </p:nvSpPr>
        <p:spPr>
          <a:xfrm>
            <a:off x="896112" y="5074920"/>
            <a:ext cx="5029200" cy="329184"/>
          </a:xfrm>
          <a:prstGeom prst="rect">
            <a:avLst/>
          </a:prstGeom>
          <a:noFill/>
          <a:ln/>
        </p:spPr>
        <p:txBody>
          <a:bodyPr wrap="square" lIns="0" tIns="0" rIns="0" bIns="0" rtlCol="0" anchor="t"/>
          <a:lstStyle/>
          <a:p>
            <a:pPr indent="0" marL="0">
              <a:buNone/>
            </a:pPr>
            <a:r>
              <a:rPr lang="en-US" sz="1800" b="1" dirty="0">
                <a:solidFill>
                  <a:schemeClr val="tx1"/>
                </a:solidFill>
              </a:rPr>
              <a:t>Bad news comes with a plan</a:t>
            </a:r>
            <a:endParaRPr lang="en-US" sz="1800" dirty="0"/>
          </a:p>
        </p:txBody>
      </p:sp>
      <p:sp>
        <p:nvSpPr>
          <p:cNvPr id="9" name="Caption 1 text"/>
          <p:cNvSpPr txBox="1"/>
          <p:nvPr/>
        </p:nvSpPr>
        <p:spPr>
          <a:xfrm>
            <a:off x="896112" y="5422392"/>
            <a:ext cx="5029200" cy="566928"/>
          </a:xfrm>
          <a:prstGeom prst="rect">
            <a:avLst/>
          </a:prstGeom>
          <a:noFill/>
          <a:ln/>
        </p:spPr>
        <p:txBody>
          <a:bodyPr wrap="square" lIns="0" tIns="0" rIns="0" bIns="0" rtlCol="0" anchor="t"/>
          <a:lstStyle/>
          <a:p>
            <a:pPr indent="0" marL="0">
              <a:buNone/>
            </a:pPr>
            <a:r>
              <a:rPr lang="en-US" sz="1400" dirty="0">
                <a:solidFill>
                  <a:schemeClr val="accent5"/>
                </a:solidFill>
              </a:rPr>
              <a:t>A Yellow or Red check-in must state a Path to Green and a back-to-Green date. Miss that date and the goal is flagged.</a:t>
            </a:r>
            <a:endParaRPr lang="en-US" sz="1400" dirty="0"/>
          </a:p>
        </p:txBody>
      </p:sp>
      <p:sp>
        <p:nvSpPr>
          <p:cNvPr id="10" name="Caption 2 mark"/>
          <p:cNvSpPr/>
          <p:nvPr/>
        </p:nvSpPr>
        <p:spPr>
          <a:xfrm>
            <a:off x="6245352" y="5138928"/>
            <a:ext cx="182880" cy="182880"/>
          </a:xfrm>
          <a:prstGeom prst="ellipse">
            <a:avLst/>
          </a:prstGeom>
          <a:solidFill>
            <a:schemeClr val="accent4"/>
          </a:solidFill>
          <a:ln w="12700">
            <a:solidFill>
              <a:schemeClr val="accent4"/>
            </a:solidFill>
            <a:prstDash val="solid"/>
          </a:ln>
        </p:spPr>
      </p:sp>
      <p:sp>
        <p:nvSpPr>
          <p:cNvPr id="11" name="Caption 2 heading"/>
          <p:cNvSpPr txBox="1"/>
          <p:nvPr/>
        </p:nvSpPr>
        <p:spPr>
          <a:xfrm>
            <a:off x="6592824" y="5074920"/>
            <a:ext cx="5029200" cy="329184"/>
          </a:xfrm>
          <a:prstGeom prst="rect">
            <a:avLst/>
          </a:prstGeom>
          <a:noFill/>
          <a:ln/>
        </p:spPr>
        <p:txBody>
          <a:bodyPr wrap="square" lIns="0" tIns="0" rIns="0" bIns="0" rtlCol="0" anchor="t"/>
          <a:lstStyle/>
          <a:p>
            <a:pPr indent="0" marL="0">
              <a:buNone/>
            </a:pPr>
            <a:r>
              <a:rPr lang="en-US" sz="1800" b="1" dirty="0">
                <a:solidFill>
                  <a:schemeClr val="tx1"/>
                </a:solidFill>
              </a:rPr>
              <a:t>The review writes itself</a:t>
            </a:r>
            <a:endParaRPr lang="en-US" sz="1800" dirty="0"/>
          </a:p>
        </p:txBody>
      </p:sp>
      <p:sp>
        <p:nvSpPr>
          <p:cNvPr id="12" name="Caption 2 text"/>
          <p:cNvSpPr txBox="1"/>
          <p:nvPr/>
        </p:nvSpPr>
        <p:spPr>
          <a:xfrm>
            <a:off x="6592824" y="5422392"/>
            <a:ext cx="5029200" cy="566928"/>
          </a:xfrm>
          <a:prstGeom prst="rect">
            <a:avLst/>
          </a:prstGeom>
          <a:noFill/>
          <a:ln/>
        </p:spPr>
        <p:txBody>
          <a:bodyPr wrap="square" lIns="0" tIns="0" rIns="0" bIns="0" rtlCol="0" anchor="t"/>
          <a:lstStyle/>
          <a:p>
            <a:pPr indent="0" marL="0">
              <a:buNone/>
            </a:pPr>
            <a:r>
              <a:rPr lang="en-US" sz="1400" dirty="0">
                <a:solidFill>
                  <a:schemeClr val="accent5"/>
                </a:solidFill>
              </a:rPr>
              <a:t>Exceptions in full, on-track goals in one line, and what changed since the last one. Comments reach the goal's owner.</a:t>
            </a:r>
            <a:endParaRPr lang="en-US" sz="1400" dirty="0"/>
          </a:p>
        </p:txBody>
      </p:sp>
      <p:sp>
        <p:nvSpPr>
          <p:cNvPr id="13" name="Caption"/>
          <p:cNvSpPr txBox="1"/>
          <p:nvPr/>
        </p:nvSpPr>
        <p:spPr>
          <a:xfrm>
            <a:off x="548640" y="6053328"/>
            <a:ext cx="6949440" cy="256032"/>
          </a:xfrm>
          <a:prstGeom prst="rect">
            <a:avLst/>
          </a:prstGeom>
          <a:noFill/>
          <a:ln/>
        </p:spPr>
        <p:txBody>
          <a:bodyPr wrap="square" lIns="0" tIns="0" rIns="0" bIns="0" rtlCol="0" anchor="ctr"/>
          <a:lstStyle/>
          <a:p>
            <a:pPr indent="0" marL="0">
              <a:buNone/>
            </a:pPr>
            <a:r>
              <a:rPr lang="en-US" sz="1000" i="1" dirty="0">
                <a:solidFill>
                  <a:schemeClr val="accent5"/>
                </a:solidFill>
              </a:rPr>
              <a:t>Screenshots from the product, on a seeded 50-goal demo org</a:t>
            </a:r>
            <a:endParaRPr lang="en-US" sz="10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The cost: most weeks, one click per goal</a:t>
            </a:r>
            <a:endParaRPr lang="en-US" sz="3600" dirty="0"/>
          </a:p>
        </p:txBody>
      </p:sp>
      <p:sp>
        <p:nvSpPr>
          <p:cNvPr id="3" name="Video frame"/>
          <p:cNvSpPr/>
          <p:nvPr/>
        </p:nvSpPr>
        <p:spPr>
          <a:xfrm>
            <a:off x="548640" y="1463040"/>
            <a:ext cx="7315200" cy="4114800"/>
          </a:xfrm>
          <a:prstGeom prst="rect">
            <a:avLst/>
          </a:prstGeom>
          <a:solidFill>
            <a:schemeClr val="bg1"/>
          </a:solidFill>
          <a:ln w="12700">
            <a:solidFill>
              <a:schemeClr val="accent6"/>
            </a:solidFill>
            <a:prstDash val="solid"/>
          </a:ln>
          <a:effectLst>
            <a:outerShdw sx="100000" sy="100000" kx="0" ky="0" algn="bl" rotWithShape="0" blurRad="152400" dist="50800" dir="5400000">
              <a:srgbClr val="134E4A">
                <a:alpha val="18000"/>
              </a:srgbClr>
            </a:outerShdw>
          </a:effectLst>
        </p:spPr>
      </p:sp>
      <p:pic>
        <p:nvPicPr>
          <p:cNvPr id="3" name="Check-in 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463040"/>
            <a:ext cx="7315200" cy="4114800"/>
          </a:xfrm>
          <a:prstGeom prst="rect">
            <a:avLst/>
          </a:prstGeom>
        </p:spPr>
      </p:pic>
      <p:sp>
        <p:nvSpPr>
          <p:cNvPr id="5" name="Caption"/>
          <p:cNvSpPr txBox="1"/>
          <p:nvPr/>
        </p:nvSpPr>
        <p:spPr>
          <a:xfrm>
            <a:off x="548640" y="5715000"/>
            <a:ext cx="7315200" cy="256032"/>
          </a:xfrm>
          <a:prstGeom prst="rect">
            <a:avLst/>
          </a:prstGeom>
          <a:noFill/>
          <a:ln/>
        </p:spPr>
        <p:txBody>
          <a:bodyPr wrap="square" lIns="0" tIns="0" rIns="0" bIns="0" rtlCol="0" anchor="ctr"/>
          <a:lstStyle/>
          <a:p>
            <a:pPr indent="0" marL="0">
              <a:buNone/>
            </a:pPr>
            <a:r>
              <a:rPr lang="en-US" sz="1000" i="1" dirty="0">
                <a:solidFill>
                  <a:schemeClr val="accent5"/>
                </a:solidFill>
              </a:rPr>
              <a:t>Recording from the demo org: a one-click No change, then a full check-in. Click to play.</a:t>
            </a:r>
            <a:endParaRPr lang="en-US" sz="1000" dirty="0"/>
          </a:p>
        </p:txBody>
      </p:sp>
      <p:sp>
        <p:nvSpPr>
          <p:cNvPr id="6" name="Point 1 mark"/>
          <p:cNvSpPr/>
          <p:nvPr/>
        </p:nvSpPr>
        <p:spPr>
          <a:xfrm>
            <a:off x="8321040" y="1664208"/>
            <a:ext cx="182880" cy="182880"/>
          </a:xfrm>
          <a:prstGeom prst="ellipse">
            <a:avLst/>
          </a:prstGeom>
          <a:solidFill>
            <a:schemeClr val="accent4"/>
          </a:solidFill>
          <a:ln w="12700">
            <a:solidFill>
              <a:schemeClr val="accent4"/>
            </a:solidFill>
            <a:prstDash val="solid"/>
          </a:ln>
        </p:spPr>
      </p:sp>
      <p:sp>
        <p:nvSpPr>
          <p:cNvPr id="7" name="Point 1 heading"/>
          <p:cNvSpPr txBox="1"/>
          <p:nvPr/>
        </p:nvSpPr>
        <p:spPr>
          <a:xfrm>
            <a:off x="8668512" y="1600200"/>
            <a:ext cx="2971800" cy="329184"/>
          </a:xfrm>
          <a:prstGeom prst="rect">
            <a:avLst/>
          </a:prstGeom>
          <a:noFill/>
          <a:ln/>
        </p:spPr>
        <p:txBody>
          <a:bodyPr wrap="square" lIns="0" tIns="0" rIns="0" bIns="0" rtlCol="0" anchor="t"/>
          <a:lstStyle/>
          <a:p>
            <a:pPr indent="0" marL="0">
              <a:buNone/>
            </a:pPr>
            <a:r>
              <a:rPr lang="en-US" sz="1800" b="1" dirty="0">
                <a:solidFill>
                  <a:schemeClr val="tx1"/>
                </a:solidFill>
              </a:rPr>
              <a:t>Home says what's due</a:t>
            </a:r>
            <a:endParaRPr lang="en-US" sz="1800" dirty="0"/>
          </a:p>
        </p:txBody>
      </p:sp>
      <p:sp>
        <p:nvSpPr>
          <p:cNvPr id="8" name="Point 1 text"/>
          <p:cNvSpPr txBox="1"/>
          <p:nvPr/>
        </p:nvSpPr>
        <p:spPr>
          <a:xfrm>
            <a:off x="8668512" y="1965960"/>
            <a:ext cx="2971800" cy="914400"/>
          </a:xfrm>
          <a:prstGeom prst="rect">
            <a:avLst/>
          </a:prstGeom>
          <a:noFill/>
          <a:ln/>
        </p:spPr>
        <p:txBody>
          <a:bodyPr wrap="square" lIns="0" tIns="0" rIns="0" bIns="0" rtlCol="0" anchor="t"/>
          <a:lstStyle/>
          <a:p>
            <a:pPr indent="0" marL="0">
              <a:buNone/>
            </a:pPr>
            <a:r>
              <a:rPr lang="en-US" sz="1400" dirty="0">
                <a:solidFill>
                  <a:schemeClr val="accent5"/>
                </a:solidFill>
              </a:rPr>
              <a:t>"Your week" lists the check-ins that need you, and why each is listed.</a:t>
            </a:r>
            <a:endParaRPr lang="en-US" sz="1400" dirty="0"/>
          </a:p>
        </p:txBody>
      </p:sp>
      <p:sp>
        <p:nvSpPr>
          <p:cNvPr id="9" name="Point 2 mark"/>
          <p:cNvSpPr/>
          <p:nvPr/>
        </p:nvSpPr>
        <p:spPr>
          <a:xfrm>
            <a:off x="8321040" y="3081528"/>
            <a:ext cx="182880" cy="182880"/>
          </a:xfrm>
          <a:prstGeom prst="ellipse">
            <a:avLst/>
          </a:prstGeom>
          <a:solidFill>
            <a:schemeClr val="accent4"/>
          </a:solidFill>
          <a:ln w="12700">
            <a:solidFill>
              <a:schemeClr val="accent4"/>
            </a:solidFill>
            <a:prstDash val="solid"/>
          </a:ln>
        </p:spPr>
      </p:sp>
      <p:sp>
        <p:nvSpPr>
          <p:cNvPr id="10" name="Point 2 heading"/>
          <p:cNvSpPr txBox="1"/>
          <p:nvPr/>
        </p:nvSpPr>
        <p:spPr>
          <a:xfrm>
            <a:off x="8668512" y="3017520"/>
            <a:ext cx="2971800" cy="329184"/>
          </a:xfrm>
          <a:prstGeom prst="rect">
            <a:avLst/>
          </a:prstGeom>
          <a:noFill/>
          <a:ln/>
        </p:spPr>
        <p:txBody>
          <a:bodyPr wrap="square" lIns="0" tIns="0" rIns="0" bIns="0" rtlCol="0" anchor="t"/>
          <a:lstStyle/>
          <a:p>
            <a:pPr indent="0" marL="0">
              <a:buNone/>
            </a:pPr>
            <a:r>
              <a:rPr lang="en-US" sz="1800" b="1" dirty="0">
                <a:solidFill>
                  <a:schemeClr val="tx1"/>
                </a:solidFill>
              </a:rPr>
              <a:t>No change is one click</a:t>
            </a:r>
            <a:endParaRPr lang="en-US" sz="1800" dirty="0"/>
          </a:p>
        </p:txBody>
      </p:sp>
      <p:sp>
        <p:nvSpPr>
          <p:cNvPr id="11" name="Point 2 text"/>
          <p:cNvSpPr txBox="1"/>
          <p:nvPr/>
        </p:nvSpPr>
        <p:spPr>
          <a:xfrm>
            <a:off x="8668512" y="3383280"/>
            <a:ext cx="2971800" cy="914400"/>
          </a:xfrm>
          <a:prstGeom prst="rect">
            <a:avLst/>
          </a:prstGeom>
          <a:noFill/>
          <a:ln/>
        </p:spPr>
        <p:txBody>
          <a:bodyPr wrap="square" lIns="0" tIns="0" rIns="0" bIns="0" rtlCol="0" anchor="t"/>
          <a:lstStyle/>
          <a:p>
            <a:pPr indent="0" marL="0">
              <a:buNone/>
            </a:pPr>
            <a:r>
              <a:rPr lang="en-US" sz="1400" dirty="0">
                <a:solidFill>
                  <a:schemeClr val="accent5"/>
                </a:solidFill>
              </a:rPr>
              <a:t>A routine week records the same Health and status with today's date.</a:t>
            </a:r>
            <a:endParaRPr lang="en-US" sz="1400" dirty="0"/>
          </a:p>
        </p:txBody>
      </p:sp>
      <p:sp>
        <p:nvSpPr>
          <p:cNvPr id="12" name="Point 3 mark"/>
          <p:cNvSpPr/>
          <p:nvPr/>
        </p:nvSpPr>
        <p:spPr>
          <a:xfrm>
            <a:off x="8321040" y="4498848"/>
            <a:ext cx="182880" cy="182880"/>
          </a:xfrm>
          <a:prstGeom prst="triangle">
            <a:avLst/>
          </a:prstGeom>
          <a:solidFill>
            <a:schemeClr val="accent3"/>
          </a:solidFill>
          <a:ln w="12700">
            <a:solidFill>
              <a:schemeClr val="accent3"/>
            </a:solidFill>
            <a:prstDash val="solid"/>
          </a:ln>
        </p:spPr>
      </p:sp>
      <p:sp>
        <p:nvSpPr>
          <p:cNvPr id="13" name="Point 3 heading"/>
          <p:cNvSpPr txBox="1"/>
          <p:nvPr/>
        </p:nvSpPr>
        <p:spPr>
          <a:xfrm>
            <a:off x="8668512" y="4434840"/>
            <a:ext cx="2971800" cy="329184"/>
          </a:xfrm>
          <a:prstGeom prst="rect">
            <a:avLst/>
          </a:prstGeom>
          <a:noFill/>
          <a:ln/>
        </p:spPr>
        <p:txBody>
          <a:bodyPr wrap="square" lIns="0" tIns="0" rIns="0" bIns="0" rtlCol="0" anchor="t"/>
          <a:lstStyle/>
          <a:p>
            <a:pPr indent="0" marL="0">
              <a:buNone/>
            </a:pPr>
            <a:r>
              <a:rPr lang="en-US" sz="1800" b="1" dirty="0">
                <a:solidFill>
                  <a:schemeClr val="tx1"/>
                </a:solidFill>
              </a:rPr>
              <a:t>A real update is one form</a:t>
            </a:r>
            <a:endParaRPr lang="en-US" sz="1800" dirty="0"/>
          </a:p>
        </p:txBody>
      </p:sp>
      <p:sp>
        <p:nvSpPr>
          <p:cNvPr id="14" name="Point 3 text"/>
          <p:cNvSpPr txBox="1"/>
          <p:nvPr/>
        </p:nvSpPr>
        <p:spPr>
          <a:xfrm>
            <a:off x="8668512" y="4800600"/>
            <a:ext cx="2971800" cy="914400"/>
          </a:xfrm>
          <a:prstGeom prst="rect">
            <a:avLst/>
          </a:prstGeom>
          <a:noFill/>
          <a:ln/>
        </p:spPr>
        <p:txBody>
          <a:bodyPr wrap="square" lIns="0" tIns="0" rIns="0" bIns="0" rtlCol="0" anchor="t"/>
          <a:lstStyle/>
          <a:p>
            <a:pPr indent="0" marL="0">
              <a:buNone/>
            </a:pPr>
            <a:r>
              <a:rPr lang="en-US" sz="1400" dirty="0">
                <a:solidFill>
                  <a:schemeClr val="accent5"/>
                </a:solidFill>
              </a:rPr>
              <a:t>It starts from last week's answers and asks for a plan only when Health isn't Green.</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What's built, and what a pilot still needs</a:t>
            </a:r>
            <a:endParaRPr lang="en-US" sz="3600" dirty="0"/>
          </a:p>
        </p:txBody>
      </p:sp>
      <p:sp>
        <p:nvSpPr>
          <p:cNvPr id="3" name="Readiness 1 card"/>
          <p:cNvSpPr/>
          <p:nvPr/>
        </p:nvSpPr>
        <p:spPr>
          <a:xfrm>
            <a:off x="548640" y="1554480"/>
            <a:ext cx="5367528" cy="4343400"/>
          </a:xfrm>
          <a:prstGeom prst="roundRect">
            <a:avLst>
              <a:gd name="adj" fmla="val 1263"/>
            </a:avLst>
          </a:prstGeom>
          <a:solidFill>
            <a:schemeClr val="bg2"/>
          </a:solidFill>
          <a:ln w="12700">
            <a:solidFill>
              <a:schemeClr val="bg2"/>
            </a:solidFill>
            <a:prstDash val="solid"/>
          </a:ln>
        </p:spPr>
      </p:sp>
      <p:sp>
        <p:nvSpPr>
          <p:cNvPr id="4" name="Readiness 1 heading"/>
          <p:cNvSpPr txBox="1"/>
          <p:nvPr/>
        </p:nvSpPr>
        <p:spPr>
          <a:xfrm>
            <a:off x="868680" y="1783080"/>
            <a:ext cx="4754880" cy="457200"/>
          </a:xfrm>
          <a:prstGeom prst="rect">
            <a:avLst/>
          </a:prstGeom>
          <a:noFill/>
          <a:ln/>
        </p:spPr>
        <p:txBody>
          <a:bodyPr wrap="square" lIns="0" tIns="0" rIns="0" bIns="0" rtlCol="0" anchor="ctr"/>
          <a:lstStyle/>
          <a:p>
            <a:pPr indent="0" marL="0">
              <a:buNone/>
            </a:pPr>
            <a:r>
              <a:rPr lang="en-US" sz="2200" b="1" dirty="0">
                <a:solidFill>
                  <a:schemeClr val="tx2"/>
                </a:solidFill>
              </a:rPr>
              <a:t>Working today</a:t>
            </a:r>
            <a:endParaRPr lang="en-US" sz="2200" dirty="0"/>
          </a:p>
        </p:txBody>
      </p:sp>
      <p:sp>
        <p:nvSpPr>
          <p:cNvPr id="5" name="Readiness 1 mark 1"/>
          <p:cNvSpPr/>
          <p:nvPr/>
        </p:nvSpPr>
        <p:spPr>
          <a:xfrm>
            <a:off x="868680" y="2514600"/>
            <a:ext cx="164592" cy="164592"/>
          </a:xfrm>
          <a:prstGeom prst="ellipse">
            <a:avLst/>
          </a:prstGeom>
          <a:solidFill>
            <a:schemeClr val="accent4"/>
          </a:solidFill>
          <a:ln w="12700">
            <a:solidFill>
              <a:schemeClr val="accent4"/>
            </a:solidFill>
            <a:prstDash val="solid"/>
          </a:ln>
        </p:spPr>
      </p:sp>
      <p:sp>
        <p:nvSpPr>
          <p:cNvPr id="6" name="Readiness 1 item 1"/>
          <p:cNvSpPr txBox="1"/>
          <p:nvPr/>
        </p:nvSpPr>
        <p:spPr>
          <a:xfrm>
            <a:off x="1207008" y="2468880"/>
            <a:ext cx="4434840" cy="548640"/>
          </a:xfrm>
          <a:prstGeom prst="rect">
            <a:avLst/>
          </a:prstGeom>
          <a:noFill/>
          <a:ln/>
        </p:spPr>
        <p:txBody>
          <a:bodyPr wrap="square" lIns="0" tIns="0" rIns="0" bIns="0" rtlCol="0" anchor="t"/>
          <a:lstStyle/>
          <a:p>
            <a:pPr indent="0" marL="0">
              <a:buNone/>
            </a:pPr>
            <a:r>
              <a:rPr lang="en-US" sz="1500" dirty="0">
                <a:solidFill>
                  <a:schemeClr val="tx1"/>
                </a:solidFill>
              </a:rPr>
              <a:t>Goals, the links between them, and weekly check-ins</a:t>
            </a:r>
            <a:endParaRPr lang="en-US" sz="1500" dirty="0"/>
          </a:p>
        </p:txBody>
      </p:sp>
      <p:sp>
        <p:nvSpPr>
          <p:cNvPr id="7" name="Readiness 1 mark 2"/>
          <p:cNvSpPr/>
          <p:nvPr/>
        </p:nvSpPr>
        <p:spPr>
          <a:xfrm>
            <a:off x="868680" y="3172968"/>
            <a:ext cx="164592" cy="164592"/>
          </a:xfrm>
          <a:prstGeom prst="ellipse">
            <a:avLst/>
          </a:prstGeom>
          <a:solidFill>
            <a:schemeClr val="accent4"/>
          </a:solidFill>
          <a:ln w="12700">
            <a:solidFill>
              <a:schemeClr val="accent4"/>
            </a:solidFill>
            <a:prstDash val="solid"/>
          </a:ln>
        </p:spPr>
      </p:sp>
      <p:sp>
        <p:nvSpPr>
          <p:cNvPr id="8" name="Readiness 1 item 2"/>
          <p:cNvSpPr txBox="1"/>
          <p:nvPr/>
        </p:nvSpPr>
        <p:spPr>
          <a:xfrm>
            <a:off x="1207008" y="3127248"/>
            <a:ext cx="4434840" cy="548640"/>
          </a:xfrm>
          <a:prstGeom prst="rect">
            <a:avLst/>
          </a:prstGeom>
          <a:noFill/>
          <a:ln/>
        </p:spPr>
        <p:txBody>
          <a:bodyPr wrap="square" lIns="0" tIns="0" rIns="0" bIns="0" rtlCol="0" anchor="t"/>
          <a:lstStyle/>
          <a:p>
            <a:pPr indent="0" marL="0">
              <a:buNone/>
            </a:pPr>
            <a:r>
              <a:rPr lang="en-US" sz="1500" dirty="0">
                <a:solidFill>
                  <a:schemeClr val="tx1"/>
                </a:solidFill>
              </a:rPr>
              <a:t>Risks: Stale, unaligned, schedule conflicts, ownerless</a:t>
            </a:r>
            <a:endParaRPr lang="en-US" sz="1500" dirty="0"/>
          </a:p>
        </p:txBody>
      </p:sp>
      <p:sp>
        <p:nvSpPr>
          <p:cNvPr id="9" name="Readiness 1 mark 3"/>
          <p:cNvSpPr/>
          <p:nvPr/>
        </p:nvSpPr>
        <p:spPr>
          <a:xfrm>
            <a:off x="868680" y="3831336"/>
            <a:ext cx="164592" cy="164592"/>
          </a:xfrm>
          <a:prstGeom prst="ellipse">
            <a:avLst/>
          </a:prstGeom>
          <a:solidFill>
            <a:schemeClr val="accent4"/>
          </a:solidFill>
          <a:ln w="12700">
            <a:solidFill>
              <a:schemeClr val="accent4"/>
            </a:solidFill>
            <a:prstDash val="solid"/>
          </a:ln>
        </p:spPr>
      </p:sp>
      <p:sp>
        <p:nvSpPr>
          <p:cNvPr id="10" name="Readiness 1 item 3"/>
          <p:cNvSpPr txBox="1"/>
          <p:nvPr/>
        </p:nvSpPr>
        <p:spPr>
          <a:xfrm>
            <a:off x="1207008" y="3785616"/>
            <a:ext cx="4434840" cy="548640"/>
          </a:xfrm>
          <a:prstGeom prst="rect">
            <a:avLst/>
          </a:prstGeom>
          <a:noFill/>
          <a:ln/>
        </p:spPr>
        <p:txBody>
          <a:bodyPr wrap="square" lIns="0" tIns="0" rIns="0" bIns="0" rtlCol="0" anchor="t"/>
          <a:lstStyle/>
          <a:p>
            <a:pPr indent="0" marL="0">
              <a:buNone/>
            </a:pPr>
            <a:r>
              <a:rPr lang="en-US" sz="1500" dirty="0">
                <a:solidFill>
                  <a:schemeClr val="tx1"/>
                </a:solidFill>
              </a:rPr>
              <a:t>Reports by rule or hand-picked, with Markdown and PDF</a:t>
            </a:r>
            <a:endParaRPr lang="en-US" sz="1500" dirty="0"/>
          </a:p>
        </p:txBody>
      </p:sp>
      <p:sp>
        <p:nvSpPr>
          <p:cNvPr id="11" name="Readiness 1 mark 4"/>
          <p:cNvSpPr/>
          <p:nvPr/>
        </p:nvSpPr>
        <p:spPr>
          <a:xfrm>
            <a:off x="868680" y="4489704"/>
            <a:ext cx="164592" cy="164592"/>
          </a:xfrm>
          <a:prstGeom prst="ellipse">
            <a:avLst/>
          </a:prstGeom>
          <a:solidFill>
            <a:schemeClr val="accent4"/>
          </a:solidFill>
          <a:ln w="12700">
            <a:solidFill>
              <a:schemeClr val="accent4"/>
            </a:solidFill>
            <a:prstDash val="solid"/>
          </a:ln>
        </p:spPr>
      </p:sp>
      <p:sp>
        <p:nvSpPr>
          <p:cNvPr id="12" name="Readiness 1 item 4"/>
          <p:cNvSpPr txBox="1"/>
          <p:nvPr/>
        </p:nvSpPr>
        <p:spPr>
          <a:xfrm>
            <a:off x="1207008" y="4443984"/>
            <a:ext cx="4434840" cy="548640"/>
          </a:xfrm>
          <a:prstGeom prst="rect">
            <a:avLst/>
          </a:prstGeom>
          <a:noFill/>
          <a:ln/>
        </p:spPr>
        <p:txBody>
          <a:bodyPr wrap="square" lIns="0" tIns="0" rIns="0" bIns="0" rtlCol="0" anchor="t"/>
          <a:lstStyle/>
          <a:p>
            <a:pPr indent="0" marL="0">
              <a:buNone/>
            </a:pPr>
            <a:r>
              <a:rPr lang="en-US" sz="1500" dirty="0">
                <a:solidFill>
                  <a:schemeClr val="tx1"/>
                </a:solidFill>
              </a:rPr>
              <a:t>Comments and Action Items on published reports</a:t>
            </a:r>
            <a:endParaRPr lang="en-US" sz="1500" dirty="0"/>
          </a:p>
        </p:txBody>
      </p:sp>
      <p:sp>
        <p:nvSpPr>
          <p:cNvPr id="13" name="Readiness 1 mark 5"/>
          <p:cNvSpPr/>
          <p:nvPr/>
        </p:nvSpPr>
        <p:spPr>
          <a:xfrm>
            <a:off x="868680" y="5148072"/>
            <a:ext cx="164592" cy="164592"/>
          </a:xfrm>
          <a:prstGeom prst="ellipse">
            <a:avLst/>
          </a:prstGeom>
          <a:solidFill>
            <a:schemeClr val="accent4"/>
          </a:solidFill>
          <a:ln w="12700">
            <a:solidFill>
              <a:schemeClr val="accent4"/>
            </a:solidFill>
            <a:prstDash val="solid"/>
          </a:ln>
        </p:spPr>
      </p:sp>
      <p:sp>
        <p:nvSpPr>
          <p:cNvPr id="14" name="Readiness 1 item 5"/>
          <p:cNvSpPr txBox="1"/>
          <p:nvPr/>
        </p:nvSpPr>
        <p:spPr>
          <a:xfrm>
            <a:off x="1207008" y="5102352"/>
            <a:ext cx="4434840" cy="548640"/>
          </a:xfrm>
          <a:prstGeom prst="rect">
            <a:avLst/>
          </a:prstGeom>
          <a:noFill/>
          <a:ln/>
        </p:spPr>
        <p:txBody>
          <a:bodyPr wrap="square" lIns="0" tIns="0" rIns="0" bIns="0" rtlCol="0" anchor="t"/>
          <a:lstStyle/>
          <a:p>
            <a:pPr indent="0" marL="0">
              <a:buNone/>
            </a:pPr>
            <a:r>
              <a:rPr lang="en-US" sz="1500" dirty="0">
                <a:solidFill>
                  <a:schemeClr val="tx1"/>
                </a:solidFill>
              </a:rPr>
              <a:t>Spreadsheet import to load an org's goals</a:t>
            </a:r>
            <a:endParaRPr lang="en-US" sz="1500" dirty="0"/>
          </a:p>
        </p:txBody>
      </p:sp>
      <p:sp>
        <p:nvSpPr>
          <p:cNvPr id="15" name="Readiness 2 card"/>
          <p:cNvSpPr/>
          <p:nvPr/>
        </p:nvSpPr>
        <p:spPr>
          <a:xfrm>
            <a:off x="6281928" y="1554480"/>
            <a:ext cx="5367528" cy="4343400"/>
          </a:xfrm>
          <a:prstGeom prst="roundRect">
            <a:avLst>
              <a:gd name="adj" fmla="val 1263"/>
            </a:avLst>
          </a:prstGeom>
          <a:solidFill>
            <a:schemeClr val="bg2"/>
          </a:solidFill>
          <a:ln w="12700">
            <a:solidFill>
              <a:schemeClr val="bg2"/>
            </a:solidFill>
            <a:prstDash val="solid"/>
          </a:ln>
        </p:spPr>
      </p:sp>
      <p:sp>
        <p:nvSpPr>
          <p:cNvPr id="16" name="Readiness 2 heading"/>
          <p:cNvSpPr txBox="1"/>
          <p:nvPr/>
        </p:nvSpPr>
        <p:spPr>
          <a:xfrm>
            <a:off x="6601968" y="1783080"/>
            <a:ext cx="4754880" cy="457200"/>
          </a:xfrm>
          <a:prstGeom prst="rect">
            <a:avLst/>
          </a:prstGeom>
          <a:noFill/>
          <a:ln/>
        </p:spPr>
        <p:txBody>
          <a:bodyPr wrap="square" lIns="0" tIns="0" rIns="0" bIns="0" rtlCol="0" anchor="ctr"/>
          <a:lstStyle/>
          <a:p>
            <a:pPr indent="0" marL="0">
              <a:buNone/>
            </a:pPr>
            <a:r>
              <a:rPr lang="en-US" sz="2200" b="1" dirty="0">
                <a:solidFill>
                  <a:schemeClr val="tx2"/>
                </a:solidFill>
              </a:rPr>
              <a:t>Needed before a pilot</a:t>
            </a:r>
            <a:endParaRPr lang="en-US" sz="2200" dirty="0"/>
          </a:p>
        </p:txBody>
      </p:sp>
      <p:sp>
        <p:nvSpPr>
          <p:cNvPr id="17" name="Readiness 2 mark 1"/>
          <p:cNvSpPr/>
          <p:nvPr/>
        </p:nvSpPr>
        <p:spPr>
          <a:xfrm>
            <a:off x="6601968" y="2514600"/>
            <a:ext cx="164592" cy="164592"/>
          </a:xfrm>
          <a:prstGeom prst="triangle">
            <a:avLst/>
          </a:prstGeom>
          <a:solidFill>
            <a:schemeClr val="accent3"/>
          </a:solidFill>
          <a:ln w="12700">
            <a:solidFill>
              <a:schemeClr val="accent3"/>
            </a:solidFill>
            <a:prstDash val="solid"/>
          </a:ln>
        </p:spPr>
      </p:sp>
      <p:sp>
        <p:nvSpPr>
          <p:cNvPr id="18" name="Readiness 2 item 1"/>
          <p:cNvSpPr txBox="1"/>
          <p:nvPr/>
        </p:nvSpPr>
        <p:spPr>
          <a:xfrm>
            <a:off x="6940296" y="2468880"/>
            <a:ext cx="4434840" cy="548640"/>
          </a:xfrm>
          <a:prstGeom prst="rect">
            <a:avLst/>
          </a:prstGeom>
          <a:noFill/>
          <a:ln/>
        </p:spPr>
        <p:txBody>
          <a:bodyPr wrap="square" lIns="0" tIns="0" rIns="0" bIns="0" rtlCol="0" anchor="t"/>
          <a:lstStyle/>
          <a:p>
            <a:pPr indent="0" marL="0">
              <a:buNone/>
            </a:pPr>
            <a:r>
              <a:rPr lang="en-US" sz="1500" dirty="0">
                <a:solidFill>
                  <a:schemeClr val="tx1"/>
                </a:solidFill>
              </a:rPr>
              <a:t>Company sign-in. Today any email address signs in.</a:t>
            </a:r>
            <a:endParaRPr lang="en-US" sz="1500" dirty="0"/>
          </a:p>
        </p:txBody>
      </p:sp>
      <p:sp>
        <p:nvSpPr>
          <p:cNvPr id="19" name="Readiness 2 mark 2"/>
          <p:cNvSpPr/>
          <p:nvPr/>
        </p:nvSpPr>
        <p:spPr>
          <a:xfrm>
            <a:off x="6601968" y="3172968"/>
            <a:ext cx="164592" cy="164592"/>
          </a:xfrm>
          <a:prstGeom prst="triangle">
            <a:avLst/>
          </a:prstGeom>
          <a:solidFill>
            <a:schemeClr val="accent3"/>
          </a:solidFill>
          <a:ln w="12700">
            <a:solidFill>
              <a:schemeClr val="accent3"/>
            </a:solidFill>
            <a:prstDash val="solid"/>
          </a:ln>
        </p:spPr>
      </p:sp>
      <p:sp>
        <p:nvSpPr>
          <p:cNvPr id="20" name="Readiness 2 item 2"/>
          <p:cNvSpPr txBox="1"/>
          <p:nvPr/>
        </p:nvSpPr>
        <p:spPr>
          <a:xfrm>
            <a:off x="6940296" y="3127248"/>
            <a:ext cx="4434840" cy="548640"/>
          </a:xfrm>
          <a:prstGeom prst="rect">
            <a:avLst/>
          </a:prstGeom>
          <a:noFill/>
          <a:ln/>
        </p:spPr>
        <p:txBody>
          <a:bodyPr wrap="square" lIns="0" tIns="0" rIns="0" bIns="0" rtlCol="0" anchor="t"/>
          <a:lstStyle/>
          <a:p>
            <a:pPr indent="0" marL="0">
              <a:buNone/>
            </a:pPr>
            <a:r>
              <a:rPr lang="en-US" sz="1500" dirty="0">
                <a:solidFill>
                  <a:schemeClr val="tx1"/>
                </a:solidFill>
              </a:rPr>
              <a:t>Sending email. Reminders and alerts are logged, not sent.</a:t>
            </a:r>
            <a:endParaRPr lang="en-US" sz="1500" dirty="0"/>
          </a:p>
        </p:txBody>
      </p:sp>
      <p:sp>
        <p:nvSpPr>
          <p:cNvPr id="21" name="Readiness 2 mark 3"/>
          <p:cNvSpPr/>
          <p:nvPr/>
        </p:nvSpPr>
        <p:spPr>
          <a:xfrm>
            <a:off x="6601968" y="3831336"/>
            <a:ext cx="164592" cy="164592"/>
          </a:xfrm>
          <a:prstGeom prst="triangle">
            <a:avLst/>
          </a:prstGeom>
          <a:solidFill>
            <a:schemeClr val="accent3"/>
          </a:solidFill>
          <a:ln w="12700">
            <a:solidFill>
              <a:schemeClr val="accent3"/>
            </a:solidFill>
            <a:prstDash val="solid"/>
          </a:ln>
        </p:spPr>
      </p:sp>
      <p:sp>
        <p:nvSpPr>
          <p:cNvPr id="22" name="Readiness 2 item 3"/>
          <p:cNvSpPr txBox="1"/>
          <p:nvPr/>
        </p:nvSpPr>
        <p:spPr>
          <a:xfrm>
            <a:off x="6940296" y="3785616"/>
            <a:ext cx="4434840" cy="548640"/>
          </a:xfrm>
          <a:prstGeom prst="rect">
            <a:avLst/>
          </a:prstGeom>
          <a:noFill/>
          <a:ln/>
        </p:spPr>
        <p:txBody>
          <a:bodyPr wrap="square" lIns="0" tIns="0" rIns="0" bIns="0" rtlCol="0" anchor="t"/>
          <a:lstStyle/>
          <a:p>
            <a:pPr indent="0" marL="0">
              <a:buNone/>
            </a:pPr>
            <a:r>
              <a:rPr lang="en-US" sz="1500" dirty="0">
                <a:solidFill>
                  <a:schemeClr val="tx1"/>
                </a:solidFill>
              </a:rPr>
              <a:t>Hosting, and someone to run it.</a:t>
            </a:r>
            <a:endParaRPr lang="en-US" sz="15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Three ways this could fail, and the answer</a:t>
            </a:r>
            <a:endParaRPr lang="en-US" sz="3600" dirty="0"/>
          </a:p>
        </p:txBody>
      </p:sp>
      <p:sp>
        <p:nvSpPr>
          <p:cNvPr id="3" name="Objection 1 card"/>
          <p:cNvSpPr/>
          <p:nvPr/>
        </p:nvSpPr>
        <p:spPr>
          <a:xfrm>
            <a:off x="548640" y="1600200"/>
            <a:ext cx="3657600" cy="1234440"/>
          </a:xfrm>
          <a:prstGeom prst="roundRect">
            <a:avLst>
              <a:gd name="adj" fmla="val 4444"/>
            </a:avLst>
          </a:prstGeom>
          <a:solidFill>
            <a:schemeClr val="bg2"/>
          </a:solidFill>
          <a:ln w="12700">
            <a:solidFill>
              <a:schemeClr val="bg2"/>
            </a:solidFill>
            <a:prstDash val="solid"/>
          </a:ln>
        </p:spPr>
      </p:sp>
      <p:sp>
        <p:nvSpPr>
          <p:cNvPr id="4" name="Objection 1"/>
          <p:cNvSpPr txBox="1"/>
          <p:nvPr/>
        </p:nvSpPr>
        <p:spPr>
          <a:xfrm>
            <a:off x="822960" y="1600200"/>
            <a:ext cx="3108960" cy="1234440"/>
          </a:xfrm>
          <a:prstGeom prst="rect">
            <a:avLst/>
          </a:prstGeom>
          <a:noFill/>
          <a:ln/>
        </p:spPr>
        <p:txBody>
          <a:bodyPr wrap="square" lIns="0" tIns="0" rIns="0" bIns="0" rtlCol="0" anchor="ctr"/>
          <a:lstStyle/>
          <a:p>
            <a:pPr indent="0" marL="0">
              <a:buNone/>
            </a:pPr>
            <a:r>
              <a:rPr lang="en-US" sz="2000" b="1" dirty="0">
                <a:solidFill>
                  <a:schemeClr val="tx2"/>
                </a:solidFill>
              </a:rPr>
              <a:t>"Managers won't check in"</a:t>
            </a:r>
            <a:endParaRPr lang="en-US" sz="2000" dirty="0"/>
          </a:p>
        </p:txBody>
      </p:sp>
      <p:sp>
        <p:nvSpPr>
          <p:cNvPr id="5" name="Objection 1 arrow"/>
          <p:cNvSpPr/>
          <p:nvPr/>
        </p:nvSpPr>
        <p:spPr>
          <a:xfrm>
            <a:off x="4343400" y="2217420"/>
            <a:ext cx="548640" cy="0"/>
          </a:xfrm>
          <a:prstGeom prst="line">
            <a:avLst/>
          </a:prstGeom>
          <a:noFill/>
          <a:ln w="25400">
            <a:solidFill>
              <a:schemeClr val="accent6"/>
            </a:solidFill>
            <a:prstDash val="solid"/>
            <a:tailEnd type="triangle"/>
          </a:ln>
        </p:spPr>
      </p:sp>
      <p:sp>
        <p:nvSpPr>
          <p:cNvPr id="6" name="Answer 1"/>
          <p:cNvSpPr txBox="1"/>
          <p:nvPr/>
        </p:nvSpPr>
        <p:spPr>
          <a:xfrm>
            <a:off x="5074920" y="1600200"/>
            <a:ext cx="6537960" cy="1234440"/>
          </a:xfrm>
          <a:prstGeom prst="rect">
            <a:avLst/>
          </a:prstGeom>
          <a:noFill/>
          <a:ln/>
        </p:spPr>
        <p:txBody>
          <a:bodyPr wrap="square" lIns="0" tIns="0" rIns="0" bIns="0" rtlCol="0" anchor="ctr"/>
          <a:lstStyle/>
          <a:p>
            <a:pPr indent="0" marL="0">
              <a:buNone/>
            </a:pPr>
            <a:r>
              <a:rPr lang="en-US" sz="1600" dirty="0">
                <a:solidFill>
                  <a:schemeClr val="tx1"/>
                </a:solidFill>
              </a:rPr>
              <a:t>A routine week is one click. A weekly reminder lists what's due, and anyone can nudge the owner of a Stale goal.</a:t>
            </a:r>
            <a:endParaRPr lang="en-US" sz="1600" dirty="0"/>
          </a:p>
        </p:txBody>
      </p:sp>
      <p:sp>
        <p:nvSpPr>
          <p:cNvPr id="7" name="Objection 2 card"/>
          <p:cNvSpPr/>
          <p:nvPr/>
        </p:nvSpPr>
        <p:spPr>
          <a:xfrm>
            <a:off x="548640" y="3063240"/>
            <a:ext cx="3657600" cy="1234440"/>
          </a:xfrm>
          <a:prstGeom prst="roundRect">
            <a:avLst>
              <a:gd name="adj" fmla="val 4444"/>
            </a:avLst>
          </a:prstGeom>
          <a:solidFill>
            <a:schemeClr val="bg2"/>
          </a:solidFill>
          <a:ln w="12700">
            <a:solidFill>
              <a:schemeClr val="bg2"/>
            </a:solidFill>
            <a:prstDash val="solid"/>
          </a:ln>
        </p:spPr>
      </p:sp>
      <p:sp>
        <p:nvSpPr>
          <p:cNvPr id="8" name="Objection 2"/>
          <p:cNvSpPr txBox="1"/>
          <p:nvPr/>
        </p:nvSpPr>
        <p:spPr>
          <a:xfrm>
            <a:off x="822960" y="3063240"/>
            <a:ext cx="3108960" cy="1234440"/>
          </a:xfrm>
          <a:prstGeom prst="rect">
            <a:avLst/>
          </a:prstGeom>
          <a:noFill/>
          <a:ln/>
        </p:spPr>
        <p:txBody>
          <a:bodyPr wrap="square" lIns="0" tIns="0" rIns="0" bIns="0" rtlCol="0" anchor="ctr"/>
          <a:lstStyle/>
          <a:p>
            <a:pPr indent="0" marL="0">
              <a:buNone/>
            </a:pPr>
            <a:r>
              <a:rPr lang="en-US" sz="2000" b="1" dirty="0">
                <a:solidFill>
                  <a:schemeClr val="tx2"/>
                </a:solidFill>
              </a:rPr>
              <a:t>"It's one more tool"</a:t>
            </a:r>
            <a:endParaRPr lang="en-US" sz="2000" dirty="0"/>
          </a:p>
        </p:txBody>
      </p:sp>
      <p:sp>
        <p:nvSpPr>
          <p:cNvPr id="9" name="Objection 2 arrow"/>
          <p:cNvSpPr/>
          <p:nvPr/>
        </p:nvSpPr>
        <p:spPr>
          <a:xfrm>
            <a:off x="4343400" y="3680460"/>
            <a:ext cx="548640" cy="0"/>
          </a:xfrm>
          <a:prstGeom prst="line">
            <a:avLst/>
          </a:prstGeom>
          <a:noFill/>
          <a:ln w="25400">
            <a:solidFill>
              <a:schemeClr val="accent6"/>
            </a:solidFill>
            <a:prstDash val="solid"/>
            <a:tailEnd type="triangle"/>
          </a:ln>
        </p:spPr>
      </p:sp>
      <p:sp>
        <p:nvSpPr>
          <p:cNvPr id="10" name="Answer 2"/>
          <p:cNvSpPr txBox="1"/>
          <p:nvPr/>
        </p:nvSpPr>
        <p:spPr>
          <a:xfrm>
            <a:off x="5074920" y="3063240"/>
            <a:ext cx="6537960" cy="1234440"/>
          </a:xfrm>
          <a:prstGeom prst="rect">
            <a:avLst/>
          </a:prstGeom>
          <a:noFill/>
          <a:ln/>
        </p:spPr>
        <p:txBody>
          <a:bodyPr wrap="square" lIns="0" tIns="0" rIns="0" bIns="0" rtlCol="0" anchor="ctr"/>
          <a:lstStyle/>
          <a:p>
            <a:pPr indent="0" marL="0">
              <a:buNone/>
            </a:pPr>
            <a:r>
              <a:rPr lang="en-US" sz="1600" dirty="0">
                <a:solidFill>
                  <a:schemeClr val="tx1"/>
                </a:solidFill>
              </a:rPr>
              <a:t>It replaces the status deck. The Report is the review document, and it exports to Markdown or PDF.</a:t>
            </a:r>
            <a:endParaRPr lang="en-US" sz="1600" dirty="0"/>
          </a:p>
        </p:txBody>
      </p:sp>
      <p:sp>
        <p:nvSpPr>
          <p:cNvPr id="11" name="Objection 3 card"/>
          <p:cNvSpPr/>
          <p:nvPr/>
        </p:nvSpPr>
        <p:spPr>
          <a:xfrm>
            <a:off x="548640" y="4526280"/>
            <a:ext cx="3657600" cy="1234440"/>
          </a:xfrm>
          <a:prstGeom prst="roundRect">
            <a:avLst>
              <a:gd name="adj" fmla="val 4444"/>
            </a:avLst>
          </a:prstGeom>
          <a:solidFill>
            <a:schemeClr val="bg2"/>
          </a:solidFill>
          <a:ln w="12700">
            <a:solidFill>
              <a:schemeClr val="bg2"/>
            </a:solidFill>
            <a:prstDash val="solid"/>
          </a:ln>
        </p:spPr>
      </p:sp>
      <p:sp>
        <p:nvSpPr>
          <p:cNvPr id="12" name="Objection 3"/>
          <p:cNvSpPr txBox="1"/>
          <p:nvPr/>
        </p:nvSpPr>
        <p:spPr>
          <a:xfrm>
            <a:off x="822960" y="4526280"/>
            <a:ext cx="3108960" cy="1234440"/>
          </a:xfrm>
          <a:prstGeom prst="rect">
            <a:avLst/>
          </a:prstGeom>
          <a:noFill/>
          <a:ln/>
        </p:spPr>
        <p:txBody>
          <a:bodyPr wrap="square" lIns="0" tIns="0" rIns="0" bIns="0" rtlCol="0" anchor="ctr"/>
          <a:lstStyle/>
          <a:p>
            <a:pPr indent="0" marL="0">
              <a:buNone/>
            </a:pPr>
            <a:r>
              <a:rPr lang="en-US" sz="2000" b="1" dirty="0">
                <a:solidFill>
                  <a:schemeClr val="tx2"/>
                </a:solidFill>
              </a:rPr>
              <a:t>"Owners will call it Green"</a:t>
            </a:r>
            <a:endParaRPr lang="en-US" sz="2000" dirty="0"/>
          </a:p>
        </p:txBody>
      </p:sp>
      <p:sp>
        <p:nvSpPr>
          <p:cNvPr id="13" name="Objection 3 arrow"/>
          <p:cNvSpPr/>
          <p:nvPr/>
        </p:nvSpPr>
        <p:spPr>
          <a:xfrm>
            <a:off x="4343400" y="5143500"/>
            <a:ext cx="548640" cy="0"/>
          </a:xfrm>
          <a:prstGeom prst="line">
            <a:avLst/>
          </a:prstGeom>
          <a:noFill/>
          <a:ln w="25400">
            <a:solidFill>
              <a:schemeClr val="accent6"/>
            </a:solidFill>
            <a:prstDash val="solid"/>
            <a:tailEnd type="triangle"/>
          </a:ln>
        </p:spPr>
      </p:sp>
      <p:sp>
        <p:nvSpPr>
          <p:cNvPr id="14" name="Answer 3"/>
          <p:cNvSpPr txBox="1"/>
          <p:nvPr/>
        </p:nvSpPr>
        <p:spPr>
          <a:xfrm>
            <a:off x="5074920" y="4526280"/>
            <a:ext cx="6537960" cy="1234440"/>
          </a:xfrm>
          <a:prstGeom prst="rect">
            <a:avLst/>
          </a:prstGeom>
          <a:noFill/>
          <a:ln/>
        </p:spPr>
        <p:txBody>
          <a:bodyPr wrap="square" lIns="0" tIns="0" rIns="0" bIns="0" rtlCol="0" anchor="ctr"/>
          <a:lstStyle/>
          <a:p>
            <a:pPr indent="0" marL="0">
              <a:buNone/>
            </a:pPr>
            <a:r>
              <a:rPr lang="en-US" sz="1600" dirty="0">
                <a:solidFill>
                  <a:schemeClr val="tx1"/>
                </a:solidFill>
              </a:rPr>
              <a:t>The worst Health among a goal's children shows beside the owner's call, and a difference must be explained. Stale goals and slipped dates show whatever the owner says.</a:t>
            </a:r>
            <a:endParaRPr lang="en-US" sz="16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10972800" cy="914400"/>
          </a:xfrm>
          <a:prstGeom prst="rect">
            <a:avLst/>
          </a:prstGeom>
          <a:noFill/>
          <a:ln/>
        </p:spPr>
        <p:txBody>
          <a:bodyPr wrap="square" lIns="0" tIns="0" rIns="0" bIns="0" rtlCol="0" anchor="ctr"/>
          <a:lstStyle/>
          <a:p>
            <a:pPr algn="l" indent="0" marL="0">
              <a:buNone/>
            </a:pPr>
            <a:r>
              <a:rPr lang="en-US" sz="4000" b="1" dirty="0">
                <a:solidFill>
                  <a:schemeClr val="bg1"/>
                </a:solidFill>
              </a:rPr>
              <a:t>The pilot: one org, one cycle, three measures</a:t>
            </a:r>
            <a:endParaRPr lang="en-US" sz="4000" dirty="0"/>
          </a:p>
        </p:txBody>
      </p:sp>
      <p:sp>
        <p:nvSpPr>
          <p:cNvPr id="3" name="Plan label"/>
          <p:cNvSpPr txBox="1"/>
          <p:nvPr/>
        </p:nvSpPr>
        <p:spPr>
          <a:xfrm>
            <a:off x="640080" y="1691640"/>
            <a:ext cx="5120640" cy="365760"/>
          </a:xfrm>
          <a:prstGeom prst="rect">
            <a:avLst/>
          </a:prstGeom>
          <a:noFill/>
          <a:ln/>
        </p:spPr>
        <p:txBody>
          <a:bodyPr wrap="square" lIns="0" tIns="0" rIns="0" bIns="0" rtlCol="0" anchor="ctr"/>
          <a:lstStyle/>
          <a:p>
            <a:pPr indent="0" marL="0">
              <a:buNone/>
            </a:pPr>
            <a:r>
              <a:rPr lang="en-US" sz="1400" b="1" spc="200" kern="0" dirty="0">
                <a:solidFill>
                  <a:schemeClr val="accent6"/>
                </a:solidFill>
              </a:rPr>
              <a:t>THE PLAN</a:t>
            </a:r>
            <a:endParaRPr lang="en-US" sz="1400" dirty="0"/>
          </a:p>
        </p:txBody>
      </p:sp>
      <p:sp>
        <p:nvSpPr>
          <p:cNvPr id="4" name="Measures label"/>
          <p:cNvSpPr txBox="1"/>
          <p:nvPr/>
        </p:nvSpPr>
        <p:spPr>
          <a:xfrm>
            <a:off x="6355080" y="1691640"/>
            <a:ext cx="5120640" cy="365760"/>
          </a:xfrm>
          <a:prstGeom prst="rect">
            <a:avLst/>
          </a:prstGeom>
          <a:noFill/>
          <a:ln/>
        </p:spPr>
        <p:txBody>
          <a:bodyPr wrap="square" lIns="0" tIns="0" rIns="0" bIns="0" rtlCol="0" anchor="ctr"/>
          <a:lstStyle/>
          <a:p>
            <a:pPr indent="0" marL="0">
              <a:buNone/>
            </a:pPr>
            <a:r>
              <a:rPr lang="en-US" sz="1400" b="1" spc="200" kern="0" dirty="0">
                <a:solidFill>
                  <a:schemeClr val="accent6"/>
                </a:solidFill>
              </a:rPr>
              <a:t>HOW WE'D JUDGE IT</a:t>
            </a:r>
            <a:endParaRPr lang="en-US" sz="1400" dirty="0"/>
          </a:p>
        </p:txBody>
      </p:sp>
      <p:sp>
        <p:nvSpPr>
          <p:cNvPr id="5" name="Plan 1 card"/>
          <p:cNvSpPr/>
          <p:nvPr/>
        </p:nvSpPr>
        <p:spPr>
          <a:xfrm>
            <a:off x="640080" y="2240280"/>
            <a:ext cx="5193792" cy="886968"/>
          </a:xfrm>
          <a:prstGeom prst="roundRect">
            <a:avLst>
              <a:gd name="adj" fmla="val 6186"/>
            </a:avLst>
          </a:prstGeom>
          <a:solidFill>
            <a:schemeClr val="accent1"/>
          </a:solidFill>
          <a:ln w="12700">
            <a:solidFill>
              <a:schemeClr val="accent1"/>
            </a:solidFill>
            <a:prstDash val="solid"/>
          </a:ln>
        </p:spPr>
      </p:sp>
      <p:sp>
        <p:nvSpPr>
          <p:cNvPr id="6" name="Plan 1 number"/>
          <p:cNvSpPr txBox="1"/>
          <p:nvPr/>
        </p:nvSpPr>
        <p:spPr>
          <a:xfrm>
            <a:off x="868680" y="2240280"/>
            <a:ext cx="457200" cy="886968"/>
          </a:xfrm>
          <a:prstGeom prst="rect">
            <a:avLst/>
          </a:prstGeom>
          <a:noFill/>
          <a:ln/>
        </p:spPr>
        <p:txBody>
          <a:bodyPr wrap="square" lIns="0" tIns="0" rIns="0" bIns="0" rtlCol="0" anchor="ctr"/>
          <a:lstStyle/>
          <a:p>
            <a:pPr indent="0" marL="0">
              <a:buNone/>
            </a:pPr>
            <a:r>
              <a:rPr lang="en-US" sz="2800" b="1" dirty="0">
                <a:solidFill>
                  <a:schemeClr val="accent6"/>
                </a:solidFill>
              </a:rPr>
              <a:t>1</a:t>
            </a:r>
            <a:endParaRPr lang="en-US" sz="2800" dirty="0"/>
          </a:p>
        </p:txBody>
      </p:sp>
      <p:sp>
        <p:nvSpPr>
          <p:cNvPr id="7" name="Plan 1 text"/>
          <p:cNvSpPr txBox="1"/>
          <p:nvPr/>
        </p:nvSpPr>
        <p:spPr>
          <a:xfrm>
            <a:off x="1371600" y="2240280"/>
            <a:ext cx="4297680" cy="886968"/>
          </a:xfrm>
          <a:prstGeom prst="rect">
            <a:avLst/>
          </a:prstGeom>
          <a:noFill/>
          <a:ln/>
        </p:spPr>
        <p:txBody>
          <a:bodyPr wrap="square" lIns="0" tIns="0" rIns="0" bIns="0" rtlCol="0" anchor="ctr"/>
          <a:lstStyle/>
          <a:p>
            <a:pPr indent="0" marL="0">
              <a:buNone/>
            </a:pPr>
            <a:r>
              <a:rPr lang="en-US" sz="1700" b="1" dirty="0">
                <a:solidFill>
                  <a:schemeClr val="bg1"/>
                </a:solidFill>
              </a:rPr>
              <a:t>Load one org's goals</a:t>
            </a:r>
            <a:endParaRPr lang="en-US" sz="1700" dirty="0"/>
          </a:p>
          <a:p>
            <a:pPr indent="0" marL="0">
              <a:buNone/>
            </a:pPr>
            <a:r>
              <a:rPr lang="en-US" sz="1400" dirty="0">
                <a:solidFill>
                  <a:schemeClr val="bg1"/>
                </a:solidFill>
              </a:rPr>
              <a:t>Each with its So What and what it contributes to.</a:t>
            </a:r>
            <a:endParaRPr lang="en-US" sz="1700" dirty="0"/>
          </a:p>
        </p:txBody>
      </p:sp>
      <p:sp>
        <p:nvSpPr>
          <p:cNvPr id="8" name="Plan 2 card"/>
          <p:cNvSpPr/>
          <p:nvPr/>
        </p:nvSpPr>
        <p:spPr>
          <a:xfrm>
            <a:off x="640080" y="3264408"/>
            <a:ext cx="5193792" cy="886968"/>
          </a:xfrm>
          <a:prstGeom prst="roundRect">
            <a:avLst>
              <a:gd name="adj" fmla="val 6186"/>
            </a:avLst>
          </a:prstGeom>
          <a:solidFill>
            <a:schemeClr val="accent1"/>
          </a:solidFill>
          <a:ln w="12700">
            <a:solidFill>
              <a:schemeClr val="accent1"/>
            </a:solidFill>
            <a:prstDash val="solid"/>
          </a:ln>
        </p:spPr>
      </p:sp>
      <p:sp>
        <p:nvSpPr>
          <p:cNvPr id="9" name="Plan 2 number"/>
          <p:cNvSpPr txBox="1"/>
          <p:nvPr/>
        </p:nvSpPr>
        <p:spPr>
          <a:xfrm>
            <a:off x="868680" y="3264408"/>
            <a:ext cx="457200" cy="886968"/>
          </a:xfrm>
          <a:prstGeom prst="rect">
            <a:avLst/>
          </a:prstGeom>
          <a:noFill/>
          <a:ln/>
        </p:spPr>
        <p:txBody>
          <a:bodyPr wrap="square" lIns="0" tIns="0" rIns="0" bIns="0" rtlCol="0" anchor="ctr"/>
          <a:lstStyle/>
          <a:p>
            <a:pPr indent="0" marL="0">
              <a:buNone/>
            </a:pPr>
            <a:r>
              <a:rPr lang="en-US" sz="2800" b="1" dirty="0">
                <a:solidFill>
                  <a:schemeClr val="accent6"/>
                </a:solidFill>
              </a:rPr>
              <a:t>2</a:t>
            </a:r>
            <a:endParaRPr lang="en-US" sz="2800" dirty="0"/>
          </a:p>
        </p:txBody>
      </p:sp>
      <p:sp>
        <p:nvSpPr>
          <p:cNvPr id="10" name="Plan 2 text"/>
          <p:cNvSpPr txBox="1"/>
          <p:nvPr/>
        </p:nvSpPr>
        <p:spPr>
          <a:xfrm>
            <a:off x="1371600" y="3264408"/>
            <a:ext cx="4297680" cy="886968"/>
          </a:xfrm>
          <a:prstGeom prst="rect">
            <a:avLst/>
          </a:prstGeom>
          <a:noFill/>
          <a:ln/>
        </p:spPr>
        <p:txBody>
          <a:bodyPr wrap="square" lIns="0" tIns="0" rIns="0" bIns="0" rtlCol="0" anchor="ctr"/>
          <a:lstStyle/>
          <a:p>
            <a:pPr indent="0" marL="0">
              <a:buNone/>
            </a:pPr>
            <a:r>
              <a:rPr lang="en-US" sz="1700" b="1" dirty="0">
                <a:solidFill>
                  <a:schemeClr val="bg1"/>
                </a:solidFill>
              </a:rPr>
              <a:t>Check in weekly for a month</a:t>
            </a:r>
            <a:endParaRPr lang="en-US" sz="1700" dirty="0"/>
          </a:p>
          <a:p>
            <a:pPr indent="0" marL="0">
              <a:buNone/>
            </a:pPr>
            <a:r>
              <a:rPr lang="en-US" sz="1400" dirty="0">
                <a:solidFill>
                  <a:schemeClr val="bg1"/>
                </a:solidFill>
              </a:rPr>
              <a:t>Reminders and nudges do the chasing.</a:t>
            </a:r>
            <a:endParaRPr lang="en-US" sz="1700" dirty="0"/>
          </a:p>
        </p:txBody>
      </p:sp>
      <p:sp>
        <p:nvSpPr>
          <p:cNvPr id="11" name="Plan 3 card"/>
          <p:cNvSpPr/>
          <p:nvPr/>
        </p:nvSpPr>
        <p:spPr>
          <a:xfrm>
            <a:off x="640080" y="4288536"/>
            <a:ext cx="5193792" cy="886968"/>
          </a:xfrm>
          <a:prstGeom prst="roundRect">
            <a:avLst>
              <a:gd name="adj" fmla="val 6186"/>
            </a:avLst>
          </a:prstGeom>
          <a:solidFill>
            <a:schemeClr val="accent1"/>
          </a:solidFill>
          <a:ln w="12700">
            <a:solidFill>
              <a:schemeClr val="accent1"/>
            </a:solidFill>
            <a:prstDash val="solid"/>
          </a:ln>
        </p:spPr>
      </p:sp>
      <p:sp>
        <p:nvSpPr>
          <p:cNvPr id="12" name="Plan 3 number"/>
          <p:cNvSpPr txBox="1"/>
          <p:nvPr/>
        </p:nvSpPr>
        <p:spPr>
          <a:xfrm>
            <a:off x="868680" y="4288536"/>
            <a:ext cx="457200" cy="886968"/>
          </a:xfrm>
          <a:prstGeom prst="rect">
            <a:avLst/>
          </a:prstGeom>
          <a:noFill/>
          <a:ln/>
        </p:spPr>
        <p:txBody>
          <a:bodyPr wrap="square" lIns="0" tIns="0" rIns="0" bIns="0" rtlCol="0" anchor="ctr"/>
          <a:lstStyle/>
          <a:p>
            <a:pPr indent="0" marL="0">
              <a:buNone/>
            </a:pPr>
            <a:r>
              <a:rPr lang="en-US" sz="2800" b="1" dirty="0">
                <a:solidFill>
                  <a:schemeClr val="accent6"/>
                </a:solidFill>
              </a:rPr>
              <a:t>3</a:t>
            </a:r>
            <a:endParaRPr lang="en-US" sz="2800" dirty="0"/>
          </a:p>
        </p:txBody>
      </p:sp>
      <p:sp>
        <p:nvSpPr>
          <p:cNvPr id="13" name="Plan 3 text"/>
          <p:cNvSpPr txBox="1"/>
          <p:nvPr/>
        </p:nvSpPr>
        <p:spPr>
          <a:xfrm>
            <a:off x="1371600" y="4288536"/>
            <a:ext cx="4297680" cy="886968"/>
          </a:xfrm>
          <a:prstGeom prst="rect">
            <a:avLst/>
          </a:prstGeom>
          <a:noFill/>
          <a:ln/>
        </p:spPr>
        <p:txBody>
          <a:bodyPr wrap="square" lIns="0" tIns="0" rIns="0" bIns="0" rtlCol="0" anchor="ctr"/>
          <a:lstStyle/>
          <a:p>
            <a:pPr indent="0" marL="0">
              <a:buNone/>
            </a:pPr>
            <a:r>
              <a:rPr lang="en-US" sz="1700" b="1" dirty="0">
                <a:solidFill>
                  <a:schemeClr val="bg1"/>
                </a:solidFill>
              </a:rPr>
              <a:t>Run the review from the Report</a:t>
            </a:r>
            <a:endParaRPr lang="en-US" sz="1700" dirty="0"/>
          </a:p>
          <a:p>
            <a:pPr indent="0" marL="0">
              <a:buNone/>
            </a:pPr>
            <a:r>
              <a:rPr lang="en-US" sz="1400" dirty="0">
                <a:solidFill>
                  <a:schemeClr val="bg1"/>
                </a:solidFill>
              </a:rPr>
              <a:t>No hand-built status deck that cycle.</a:t>
            </a:r>
            <a:endParaRPr lang="en-US" sz="1700" dirty="0"/>
          </a:p>
        </p:txBody>
      </p:sp>
      <p:sp>
        <p:nvSpPr>
          <p:cNvPr id="14" name="Measure 1 card"/>
          <p:cNvSpPr/>
          <p:nvPr/>
        </p:nvSpPr>
        <p:spPr>
          <a:xfrm>
            <a:off x="6355080" y="2240280"/>
            <a:ext cx="5193792" cy="886968"/>
          </a:xfrm>
          <a:prstGeom prst="roundRect">
            <a:avLst>
              <a:gd name="adj" fmla="val 6186"/>
            </a:avLst>
          </a:prstGeom>
          <a:solidFill>
            <a:schemeClr val="accent1"/>
          </a:solidFill>
          <a:ln w="12700">
            <a:solidFill>
              <a:schemeClr val="accent1"/>
            </a:solidFill>
            <a:prstDash val="solid"/>
          </a:ln>
        </p:spPr>
      </p:sp>
      <p:sp>
        <p:nvSpPr>
          <p:cNvPr id="15" name="Measure 1 number"/>
          <p:cNvSpPr txBox="1"/>
          <p:nvPr/>
        </p:nvSpPr>
        <p:spPr>
          <a:xfrm>
            <a:off x="6583680" y="2240280"/>
            <a:ext cx="457200" cy="886968"/>
          </a:xfrm>
          <a:prstGeom prst="rect">
            <a:avLst/>
          </a:prstGeom>
          <a:noFill/>
          <a:ln/>
        </p:spPr>
        <p:txBody>
          <a:bodyPr wrap="square" lIns="0" tIns="0" rIns="0" bIns="0" rtlCol="0" anchor="ctr"/>
          <a:lstStyle/>
          <a:p>
            <a:pPr indent="0" marL="0">
              <a:buNone/>
            </a:pPr>
            <a:r>
              <a:rPr lang="en-US" sz="2800" b="1" dirty="0">
                <a:solidFill>
                  <a:schemeClr val="accent6"/>
                </a:solidFill>
              </a:rPr>
              <a:t>1</a:t>
            </a:r>
            <a:endParaRPr lang="en-US" sz="2800" dirty="0"/>
          </a:p>
        </p:txBody>
      </p:sp>
      <p:sp>
        <p:nvSpPr>
          <p:cNvPr id="16" name="Measure 1 text"/>
          <p:cNvSpPr txBox="1"/>
          <p:nvPr/>
        </p:nvSpPr>
        <p:spPr>
          <a:xfrm>
            <a:off x="7086600" y="2240280"/>
            <a:ext cx="4297680" cy="886968"/>
          </a:xfrm>
          <a:prstGeom prst="rect">
            <a:avLst/>
          </a:prstGeom>
          <a:noFill/>
          <a:ln/>
        </p:spPr>
        <p:txBody>
          <a:bodyPr wrap="square" lIns="0" tIns="0" rIns="0" bIns="0" rtlCol="0" anchor="ctr"/>
          <a:lstStyle/>
          <a:p>
            <a:pPr indent="0" marL="0">
              <a:buNone/>
            </a:pPr>
            <a:r>
              <a:rPr lang="en-US" sz="1700" b="1" dirty="0">
                <a:solidFill>
                  <a:schemeClr val="bg1"/>
                </a:solidFill>
              </a:rPr>
              <a:t>Check-ins on time</a:t>
            </a:r>
            <a:endParaRPr lang="en-US" sz="1700" dirty="0"/>
          </a:p>
          <a:p>
            <a:pPr indent="0" marL="0">
              <a:buNone/>
            </a:pPr>
            <a:r>
              <a:rPr lang="en-US" sz="1400" dirty="0">
                <a:solidFill>
                  <a:schemeClr val="bg1"/>
                </a:solidFill>
              </a:rPr>
              <a:t>Goals updated each week. Proposed bar: 80%.</a:t>
            </a:r>
            <a:endParaRPr lang="en-US" sz="1700" dirty="0"/>
          </a:p>
        </p:txBody>
      </p:sp>
      <p:sp>
        <p:nvSpPr>
          <p:cNvPr id="17" name="Measure 2 card"/>
          <p:cNvSpPr/>
          <p:nvPr/>
        </p:nvSpPr>
        <p:spPr>
          <a:xfrm>
            <a:off x="6355080" y="3264408"/>
            <a:ext cx="5193792" cy="886968"/>
          </a:xfrm>
          <a:prstGeom prst="roundRect">
            <a:avLst>
              <a:gd name="adj" fmla="val 6186"/>
            </a:avLst>
          </a:prstGeom>
          <a:solidFill>
            <a:schemeClr val="accent1"/>
          </a:solidFill>
          <a:ln w="12700">
            <a:solidFill>
              <a:schemeClr val="accent1"/>
            </a:solidFill>
            <a:prstDash val="solid"/>
          </a:ln>
        </p:spPr>
      </p:sp>
      <p:sp>
        <p:nvSpPr>
          <p:cNvPr id="18" name="Measure 2 number"/>
          <p:cNvSpPr txBox="1"/>
          <p:nvPr/>
        </p:nvSpPr>
        <p:spPr>
          <a:xfrm>
            <a:off x="6583680" y="3264408"/>
            <a:ext cx="457200" cy="886968"/>
          </a:xfrm>
          <a:prstGeom prst="rect">
            <a:avLst/>
          </a:prstGeom>
          <a:noFill/>
          <a:ln/>
        </p:spPr>
        <p:txBody>
          <a:bodyPr wrap="square" lIns="0" tIns="0" rIns="0" bIns="0" rtlCol="0" anchor="ctr"/>
          <a:lstStyle/>
          <a:p>
            <a:pPr indent="0" marL="0">
              <a:buNone/>
            </a:pPr>
            <a:r>
              <a:rPr lang="en-US" sz="2800" b="1" dirty="0">
                <a:solidFill>
                  <a:schemeClr val="accent6"/>
                </a:solidFill>
              </a:rPr>
              <a:t>2</a:t>
            </a:r>
            <a:endParaRPr lang="en-US" sz="2800" dirty="0"/>
          </a:p>
        </p:txBody>
      </p:sp>
      <p:sp>
        <p:nvSpPr>
          <p:cNvPr id="19" name="Measure 2 text"/>
          <p:cNvSpPr txBox="1"/>
          <p:nvPr/>
        </p:nvSpPr>
        <p:spPr>
          <a:xfrm>
            <a:off x="7086600" y="3264408"/>
            <a:ext cx="4297680" cy="886968"/>
          </a:xfrm>
          <a:prstGeom prst="rect">
            <a:avLst/>
          </a:prstGeom>
          <a:noFill/>
          <a:ln/>
        </p:spPr>
        <p:txBody>
          <a:bodyPr wrap="square" lIns="0" tIns="0" rIns="0" bIns="0" rtlCol="0" anchor="ctr"/>
          <a:lstStyle/>
          <a:p>
            <a:pPr indent="0" marL="0">
              <a:buNone/>
            </a:pPr>
            <a:r>
              <a:rPr lang="en-US" sz="1700" b="1" dirty="0">
                <a:solidFill>
                  <a:schemeClr val="bg1"/>
                </a:solidFill>
              </a:rPr>
              <a:t>Trouble found early</a:t>
            </a:r>
            <a:endParaRPr lang="en-US" sz="1700" dirty="0"/>
          </a:p>
          <a:p>
            <a:pPr indent="0" marL="0">
              <a:buNone/>
            </a:pPr>
            <a:r>
              <a:rPr lang="en-US" sz="1400" dirty="0">
                <a:solidFill>
                  <a:schemeClr val="bg1"/>
                </a:solidFill>
              </a:rPr>
              <a:t>Problems surfaced before the review, not at it.</a:t>
            </a:r>
            <a:endParaRPr lang="en-US" sz="1700" dirty="0"/>
          </a:p>
        </p:txBody>
      </p:sp>
      <p:sp>
        <p:nvSpPr>
          <p:cNvPr id="20" name="Measure 3 card"/>
          <p:cNvSpPr/>
          <p:nvPr/>
        </p:nvSpPr>
        <p:spPr>
          <a:xfrm>
            <a:off x="6355080" y="4288536"/>
            <a:ext cx="5193792" cy="886968"/>
          </a:xfrm>
          <a:prstGeom prst="roundRect">
            <a:avLst>
              <a:gd name="adj" fmla="val 6186"/>
            </a:avLst>
          </a:prstGeom>
          <a:solidFill>
            <a:schemeClr val="accent1"/>
          </a:solidFill>
          <a:ln w="12700">
            <a:solidFill>
              <a:schemeClr val="accent1"/>
            </a:solidFill>
            <a:prstDash val="solid"/>
          </a:ln>
        </p:spPr>
      </p:sp>
      <p:sp>
        <p:nvSpPr>
          <p:cNvPr id="21" name="Measure 3 number"/>
          <p:cNvSpPr txBox="1"/>
          <p:nvPr/>
        </p:nvSpPr>
        <p:spPr>
          <a:xfrm>
            <a:off x="6583680" y="4288536"/>
            <a:ext cx="457200" cy="886968"/>
          </a:xfrm>
          <a:prstGeom prst="rect">
            <a:avLst/>
          </a:prstGeom>
          <a:noFill/>
          <a:ln/>
        </p:spPr>
        <p:txBody>
          <a:bodyPr wrap="square" lIns="0" tIns="0" rIns="0" bIns="0" rtlCol="0" anchor="ctr"/>
          <a:lstStyle/>
          <a:p>
            <a:pPr indent="0" marL="0">
              <a:buNone/>
            </a:pPr>
            <a:r>
              <a:rPr lang="en-US" sz="2800" b="1" dirty="0">
                <a:solidFill>
                  <a:schemeClr val="accent6"/>
                </a:solidFill>
              </a:rPr>
              <a:t>3</a:t>
            </a:r>
            <a:endParaRPr lang="en-US" sz="2800" dirty="0"/>
          </a:p>
        </p:txBody>
      </p:sp>
      <p:sp>
        <p:nvSpPr>
          <p:cNvPr id="22" name="Measure 3 text"/>
          <p:cNvSpPr txBox="1"/>
          <p:nvPr/>
        </p:nvSpPr>
        <p:spPr>
          <a:xfrm>
            <a:off x="7086600" y="4288536"/>
            <a:ext cx="4297680" cy="886968"/>
          </a:xfrm>
          <a:prstGeom prst="rect">
            <a:avLst/>
          </a:prstGeom>
          <a:noFill/>
          <a:ln/>
        </p:spPr>
        <p:txBody>
          <a:bodyPr wrap="square" lIns="0" tIns="0" rIns="0" bIns="0" rtlCol="0" anchor="ctr"/>
          <a:lstStyle/>
          <a:p>
            <a:pPr indent="0" marL="0">
              <a:buNone/>
            </a:pPr>
            <a:r>
              <a:rPr lang="en-US" sz="1700" b="1" dirty="0">
                <a:solidFill>
                  <a:schemeClr val="bg1"/>
                </a:solidFill>
              </a:rPr>
              <a:t>Review prep time</a:t>
            </a:r>
            <a:endParaRPr lang="en-US" sz="1700" dirty="0"/>
          </a:p>
          <a:p>
            <a:pPr indent="0" marL="0">
              <a:buNone/>
            </a:pPr>
            <a:r>
              <a:rPr lang="en-US" sz="1400" dirty="0">
                <a:solidFill>
                  <a:schemeClr val="bg1"/>
                </a:solidFill>
              </a:rPr>
              <a:t>Hours to produce the Report, against the last deck.</a:t>
            </a:r>
            <a:endParaRPr lang="en-US" sz="1700" dirty="0"/>
          </a:p>
        </p:txBody>
      </p:sp>
      <p:sp>
        <p:nvSpPr>
          <p:cNvPr id="23" name="Decision"/>
          <p:cNvSpPr txBox="1"/>
          <p:nvPr/>
        </p:nvSpPr>
        <p:spPr>
          <a:xfrm>
            <a:off x="640080" y="5486400"/>
            <a:ext cx="10881360" cy="640080"/>
          </a:xfrm>
          <a:prstGeom prst="rect">
            <a:avLst/>
          </a:prstGeom>
          <a:noFill/>
          <a:ln/>
        </p:spPr>
        <p:txBody>
          <a:bodyPr wrap="square" lIns="0" tIns="0" rIns="0" bIns="0" rtlCol="0" anchor="ctr"/>
          <a:lstStyle/>
          <a:p>
            <a:pPr indent="0" marL="0">
              <a:buNone/>
            </a:pPr>
            <a:r>
              <a:rPr lang="en-US" sz="2200" b="1" dirty="0">
                <a:solidFill>
                  <a:schemeClr val="bg1"/>
                </a:solidFill>
              </a:rPr>
              <a:t>Then one decision: </a:t>
            </a:r>
            <a:pPr indent="0" marL="0">
              <a:buNone/>
            </a:pPr>
            <a:r>
              <a:rPr lang="en-US" sz="2200" dirty="0">
                <a:solidFill>
                  <a:schemeClr val="accent6"/>
                </a:solidFill>
              </a:rPr>
              <a:t>expand it, extend the pilot, or stop.</a:t>
            </a:r>
            <a:endParaRPr lang="en-US" sz="2200" dirty="0"/>
          </a:p>
        </p:txBody>
      </p:sp>
    </p:spTree>
  </p:cSld>
  <p:clrMapOvr>
    <a:masterClrMapping/>
  </p:clrMapOvr>
</p:sld>
</file>

<file path=ppt/theme/theme1.xml><?xml version="1.0" encoding="utf-8"?>
<a:theme xmlns:a="http://schemas.openxmlformats.org/drawingml/2006/main" name="Goal Tracker">
  <a:themeElements>
    <a:clrScheme name="Goal Tracker">
      <a:dk1>
        <a:srgbClr val="1A1F1E"/>
      </a:dk1>
      <a:lt1>
        <a:srgbClr val="FFFFFF"/>
      </a:lt1>
      <a:dk2>
        <a:srgbClr val="134E4A"/>
      </a:dk2>
      <a:lt2>
        <a:srgbClr val="EEF4F3"/>
      </a:lt2>
      <a:accent1>
        <a:srgbClr val="0F766E"/>
      </a:accent1>
      <a:accent2>
        <a:srgbClr val="A32020"/>
      </a:accent2>
      <a:accent3>
        <a:srgbClr val="C98A04"/>
      </a:accent3>
      <a:accent4>
        <a:srgbClr val="1F6B45"/>
      </a:accent4>
      <a:accent5>
        <a:srgbClr val="5B6B69"/>
      </a:accent5>
      <a:accent6>
        <a:srgbClr val="CFE3E0"/>
      </a:accent6>
      <a:hlink>
        <a:srgbClr val="0F766E"/>
      </a:hlink>
      <a:folHlink>
        <a:srgbClr val="5B6B69"/>
      </a:folHlink>
    </a:clrScheme>
    <a:fontScheme name="Goal Track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Goal Tracker</dc:title>
  <dc:subject>PptxGenJS Presentation</dc:subject>
  <dc:creator>Zach Thieme</dc:creator>
  <cp:lastModifiedBy>Zach Thieme</cp:lastModifiedBy>
  <cp:revision>1</cp:revision>
  <dcterms:created xsi:type="dcterms:W3CDTF">2026-10-05T05:09:31Z</dcterms:created>
  <dcterms:modified xsi:type="dcterms:W3CDTF">2026-10-05T05:09:31Z</dcterms:modified>
</cp:coreProperties>
</file>